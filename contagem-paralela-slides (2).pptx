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ntexto" id="{453e80b6-b0c1-03c8-bb8e-82e1254d11ca}">
          <p14:sldIdLst>
            <p14:sldId id="256"/>
            <p14:sldId id="257"/>
            <p14:sldId id="258"/>
            <p14:sldId id="259"/>
          </p14:sldIdLst>
        </p14:section>
        <p14:section name="Solução sequencial" id="{b277a952-f60b-1082-6e9a-52c37b5295c1}">
          <p14:sldIdLst>
            <p14:sldId id="260"/>
            <p14:sldId id="261"/>
            <p14:sldId id="262"/>
            <p14:sldId id="263"/>
          </p14:sldIdLst>
        </p14:section>
        <p14:section name="Solução paralela" id="{8a6a4888-911a-6fbc-d049-1c886a020d52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Resultados" id="{b12119e6-8176-79f4-7308-76c496c0833c}">
          <p14:sldIdLst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Louise · 15 segundos
FALA SUGERIDA:
Nosso trabalho implementa duas versões de um programa que conta objetos numa matriz binária: uma sequencial e uma paralela com Pthreads, e compara as duas.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Louise · 30 segundos
FALA SUGERIDA:
Um objeto é um conjunto de células com valor 1 conectadas pelos lados ou pelas diagonais. No exemplo 5x5 há três objetos. A pergunta é: quantos objetos existem?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Louise · 20 segundos
FALA SUGERIDA:
Conectividade 8 significa oito vizinhos: quatro pelos lados e quatro pelas diagonais. Dois 1 ligados só na diagonal já são o mesmo objeto; sem contato, são objetos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Louise · 20 segundos
FALA SUGERIDA:
O trabalho pede uma referência sequencial correta e uma versão paralela equivalente, com pelo menos duas threads dividindo o cálculo e o mesmo resultado. A dificuldade: um objeto pode ficar dividido entre threads, e somar as contagens locais não basta.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Louise · 30 segundos
FALA SUGERIDA:
A sequencial percorre a matriz linha por linha. Ao achar um 1 ainda não visitado, conta um objeto novo e executa o flood fill, que marca todas as células conectadas. Assim, o mesmo objeto nunca é contado duas vezes.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Louise · 25 segundos
FALA SUGERIDA:
Usamos duas matrizes: a original, que nunca muda, e a visitado, que começa toda em zero. Só contamos quando a matriz vale 1 e visitado vale 0; logo em seguida o flood fill preenche visitado com o objeto inteiro.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Louise · 30 segundos
FALA SUGERIDA:
Passo a passo: marca e empilha a célula inicial; tira uma célula da pilha, olha os 8 vizinhos e empilha os que são 1 ainda não marcados; repete até a pilha esvaziar. No fim, o objeto inteiro está marcado.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Louise · 25 segundos
FALA SUGERIDA:
Quando há vários vizinhos, todos entram na pilha e são tratados um por vez. Usamos pilha explícita no heap, e não recursão, para não estourar a pilha de chamadas em objetos grandes; e marcamos a célula ao empilhar, então ela entra uma vez só. PASSAGEM: agora o Luca explica a versão paralela.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Luca · 20 segundos
FALA SUGERIDA:
A paralela tem duas fases: cada thread conta e rotula a sua faixa, em paralelo; depois dos joins, a thread principal une os objetos que cruzam fronteiras. Total = soma local menos uniões.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Luca · 20 segundos
FALA SUGERIDA:
Dividimos a matriz em faixas contíguas de linhas, uma por thread. Escolhemos Pthreads porque as threads compartilham a memória. O número de threads é configurável.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Luca · 15 segundos
FALA SUGERIDA:
Se a divisão não é exata, as primeiras faixas ganham uma linha extra: 7 linhas e 3 threads dão faixas de 3, 2 e 2. Com mais threads que linhas, usamos uma thread por linha.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Luca · 25 segundos
FALA SUGERIDA:
Cada objeto local recebe como rótulo a posição da sua primeira célula: linha x colunas + coluna + 1. Esse número é único na matriz inteira, então threads diferentes nunca repetem rótulo.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Luca · 20 segundos
FALA SUGERIDA:
O flood fill de cada thread nunca sai da própria faixa. Por isso o objeto central do exemplo aparece como dois componentes locais, com rótulos 10 e 28.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Luca · 25 segundos
FALA SUGERIDA:
A matriz é só lida. Cada thread escreve rótulos só nas suas linhas, escreve no union-find só nas posições dos seus rótulos e tem pilha própria; por isso não precisamos de mutex. Paralelo é a fase 1; criação, joins e fase 2 são sequenciais.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Luca · 25 segundos
FALA SUGERIDA:
Somar as contagens locais conta duas vezes o objeto que atravessa a fronteira: aqui uma thread vê 1, a outra vê 1, a soma dá 2, mas existe 1 objeto.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Luca · 25 segundos
FALA SUGERIDA:
Depois dos joins, comparamos a última linha de cada faixa com a primeira da seguinte, olhando o vizinho de baixo e os dois diagonais. No exemplo 2, a soma é 5 e uma união efetiva leva a 4. Como são faixas de linhas, não existe encontro de quatro blocos.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Luca · 25 segundos
FALA SUGERIDA:
O union-find registra quem é do mesmo grupo. Unir 10 e 28, grupos diferentes, devolve 1 e desconta 1 do total. Os outros contatos entre eles já estão no mesmo grupo e não descontam de novo. Cinco componentes viram quatro objetos.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Louise · 40 segundos
FALA SUGERIDA:
Executamos o Exemplo 2: sequencial e paralela com 2 e 4 threads dão 4. Depois o caso em U, que as faixas veem separado e a consolidação reconhece como um só. Apontar o resultado e o [OK]; não ler os comandos. Terminal já aberto na pasta T1-SisOp.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Louise · 25 segundos
FALA SUGERIDA:
Validamos nas cinco matrizes obrigatórias e em sete adicionais, com 1, 2, 3, 4 e 8 threads, inclusive com mais threads que linhas. A matriz grande foi conferida por uma implementação independente em Python e os sanitizadores não reportaram erros.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Louise · 20 segundos
FALA SUGERIDA:
Mesma matriz em todas as configurações, um aquecimento descartado e mediana de dez execuções. O tempo inclui a contagem, a criação e a espera das threads, e exclui a leitura do arquivo. PASSAGEM: o Luca apresenta os resultados.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Luca · 30 segundos
FALA SUGERIDA:
Com 1 thread a paralela é mais lenta (0,84x) porque tem estruturas extras. Com 4 threads, 1,85x; com 12, o melhor resultado: cerca de 2,5 ms, 2,16x.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Luca · 20 segundos
FALA SUGERIDA:
No gráfico de tempo, a queda é grande até 4 threads e depois quase estabiliza. A eficiência cai de 0,84 com 1 thread para 0,18 com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Luca · 25 segundos
FALA SUGERIDA:
12 threads não dão 12x por quatro motivos: sobrecarga e memória extra, trabalho desigual entre faixas, limite de acesso à memória, e só seis núcleos físicos, além da fase 2 sequencial.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Luca · 25 segundos
FALA SUGERIDA:
Resultados corretos, diagonais preservadas e sincronização simples por join. Melhor aceleração: 2,16x. Melhorias: distribuição dinâmica de faixas menores e menos memória nos rótulos.
PERGUNTAS PROVÁVEIS:
- Por que Pthreads? Compartilha matriz e rótulos direto.
- Por que sem mutex? Escritas em posições disjuntas; consolidação só após os joins.
- Por que não somar? Um objeto pode aparecer em várias faixas.
- Como não descontar duas vezes? Union-find só desconta ao unir conjuntos diferentes.
- Por que flood fill iterativo? Evitar recursão profunda.
- Por que 12 threads não dão 12x? Sobrecarga, trabalho desigual, memória; são 6 núcleos físicos.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493776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49377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Contagem paralela de objetos em uma matriz binária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Sequencial × paralela com Pthreads</a:t>
            </a:r>
            <a:endParaRPr lang="en-US" sz="1800" dirty="0"/>
          </a:p>
        </p:txBody>
      </p:sp>
      <p:sp>
        <p:nvSpPr>
          <p:cNvPr id="4" name="Autores"/>
          <p:cNvSpPr txBox="1"/>
          <p:nvPr/>
        </p:nvSpPr>
        <p:spPr>
          <a:xfrm>
            <a:off x="548640" y="36576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Louise e Luca · Sistemas Operacionais 2026/II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PUCRS · Prof. Filipo Mór</a:t>
            </a:r>
            <a:endParaRPr lang="en-US" sz="1400" dirty="0"/>
          </a:p>
        </p:txBody>
      </p:sp>
      <p:sp>
        <p:nvSpPr>
          <p:cNvPr id="5" name="Objetivo"/>
          <p:cNvSpPr txBox="1"/>
          <p:nvPr/>
        </p:nvSpPr>
        <p:spPr>
          <a:xfrm>
            <a:off x="548640" y="4343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</a:rPr>
              <a:t>Comparar uma implementação sequencial com uma paralela usando Pthreads.</a:t>
            </a:r>
            <a:endParaRPr lang="en-US" sz="1400" dirty="0"/>
          </a:p>
        </p:txBody>
      </p:sp>
      <p:sp>
        <p:nvSpPr>
          <p:cNvPr id="6" name="capa 0-0"/>
          <p:cNvSpPr/>
          <p:nvPr/>
        </p:nvSpPr>
        <p:spPr>
          <a:xfrm>
            <a:off x="5897880" y="1234440"/>
            <a:ext cx="365760" cy="3657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capa 0-1"/>
          <p:cNvSpPr/>
          <p:nvPr/>
        </p:nvSpPr>
        <p:spPr>
          <a:xfrm>
            <a:off x="6309360" y="1234440"/>
            <a:ext cx="365760" cy="3657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capa 0-2"/>
          <p:cNvSpPr/>
          <p:nvPr/>
        </p:nvSpPr>
        <p:spPr>
          <a:xfrm>
            <a:off x="6720840" y="1234440"/>
            <a:ext cx="365760" cy="365760"/>
          </a:xfrm>
          <a:prstGeom prst="rect">
            <a:avLst/>
          </a:prstGeom>
          <a:solidFill>
            <a:schemeClr val="tx2">
              <a:alpha val="60000"/>
            </a:schemeClr>
          </a:solidFill>
          <a:ln/>
        </p:spPr>
      </p:sp>
      <p:sp>
        <p:nvSpPr>
          <p:cNvPr id="9" name="capa 0-3"/>
          <p:cNvSpPr/>
          <p:nvPr/>
        </p:nvSpPr>
        <p:spPr>
          <a:xfrm>
            <a:off x="7132320" y="1234440"/>
            <a:ext cx="365760" cy="3657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capa 0-4"/>
          <p:cNvSpPr/>
          <p:nvPr/>
        </p:nvSpPr>
        <p:spPr>
          <a:xfrm>
            <a:off x="7543800" y="1234440"/>
            <a:ext cx="365760" cy="365760"/>
          </a:xfrm>
          <a:prstGeom prst="rect">
            <a:avLst/>
          </a:prstGeom>
          <a:solidFill>
            <a:schemeClr val="tx2">
              <a:alpha val="60000"/>
            </a:schemeClr>
          </a:solidFill>
          <a:ln/>
        </p:spPr>
      </p:sp>
      <p:sp>
        <p:nvSpPr>
          <p:cNvPr id="11" name="capa 0-5"/>
          <p:cNvSpPr/>
          <p:nvPr/>
        </p:nvSpPr>
        <p:spPr>
          <a:xfrm>
            <a:off x="7955280" y="1234440"/>
            <a:ext cx="365760" cy="365760"/>
          </a:xfrm>
          <a:prstGeom prst="rect">
            <a:avLst/>
          </a:prstGeom>
          <a:solidFill>
            <a:schemeClr val="tx2">
              <a:alpha val="60000"/>
            </a:schemeClr>
          </a:solidFill>
          <a:ln/>
        </p:spPr>
      </p:sp>
      <p:sp>
        <p:nvSpPr>
          <p:cNvPr id="12" name="capa 0-6"/>
          <p:cNvSpPr/>
          <p:nvPr/>
        </p:nvSpPr>
        <p:spPr>
          <a:xfrm>
            <a:off x="8366760" y="1234440"/>
            <a:ext cx="365760" cy="3657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3" name="capa 1-0"/>
          <p:cNvSpPr/>
          <p:nvPr/>
        </p:nvSpPr>
        <p:spPr>
          <a:xfrm>
            <a:off x="5897880" y="1645920"/>
            <a:ext cx="365760" cy="365760"/>
          </a:xfrm>
          <a:prstGeom prst="rect">
            <a:avLst/>
          </a:prstGeom>
          <a:solidFill>
            <a:schemeClr val="tx2">
              <a:alpha val="60000"/>
            </a:schemeClr>
          </a:solidFill>
          <a:ln/>
        </p:spPr>
      </p:sp>
      <p:sp>
        <p:nvSpPr>
          <p:cNvPr id="14" name="capa 1-1"/>
          <p:cNvSpPr/>
          <p:nvPr/>
        </p:nvSpPr>
        <p:spPr>
          <a:xfrm>
            <a:off x="6309360" y="1645920"/>
            <a:ext cx="365760" cy="3657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5" name="capa 1-2"/>
          <p:cNvSpPr/>
          <p:nvPr/>
        </p:nvSpPr>
        <p:spPr>
          <a:xfrm>
            <a:off x="6720840" y="1645920"/>
            <a:ext cx="365760" cy="365760"/>
          </a:xfrm>
          <a:prstGeom prst="rect">
            <a:avLst/>
          </a:prstGeom>
          <a:solidFill>
            <a:schemeClr val="tx2">
              <a:alpha val="60000"/>
            </a:schemeClr>
          </a:solidFill>
          <a:ln/>
        </p:spPr>
      </p:sp>
      <p:sp>
        <p:nvSpPr>
          <p:cNvPr id="16" name="capa 1-3"/>
          <p:cNvSpPr/>
          <p:nvPr/>
        </p:nvSpPr>
        <p:spPr>
          <a:xfrm>
            <a:off x="7132320" y="1645920"/>
            <a:ext cx="365760" cy="365760"/>
          </a:xfrm>
          <a:prstGeom prst="rect">
            <a:avLst/>
          </a:prstGeom>
          <a:solidFill>
            <a:schemeClr val="tx2">
              <a:alpha val="60000"/>
            </a:schemeClr>
          </a:solidFill>
          <a:ln/>
        </p:spPr>
      </p:sp>
      <p:sp>
        <p:nvSpPr>
          <p:cNvPr id="17" name="capa 1-4"/>
          <p:cNvSpPr/>
          <p:nvPr/>
        </p:nvSpPr>
        <p:spPr>
          <a:xfrm>
            <a:off x="7543800" y="1645920"/>
            <a:ext cx="365760" cy="3657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8" name="capa 1-5"/>
          <p:cNvSpPr/>
          <p:nvPr/>
        </p:nvSpPr>
        <p:spPr>
          <a:xfrm>
            <a:off x="7955280" y="1645920"/>
            <a:ext cx="365760" cy="3657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9" name="capa 1-6"/>
          <p:cNvSpPr/>
          <p:nvPr/>
        </p:nvSpPr>
        <p:spPr>
          <a:xfrm>
            <a:off x="8366760" y="1645920"/>
            <a:ext cx="365760" cy="365760"/>
          </a:xfrm>
          <a:prstGeom prst="rect">
            <a:avLst/>
          </a:prstGeom>
          <a:solidFill>
            <a:schemeClr val="tx2">
              <a:alpha val="60000"/>
            </a:schemeClr>
          </a:solidFill>
          <a:ln/>
        </p:spPr>
      </p:sp>
      <p:sp>
        <p:nvSpPr>
          <p:cNvPr id="20" name="capa 2-0"/>
          <p:cNvSpPr/>
          <p:nvPr/>
        </p:nvSpPr>
        <p:spPr>
          <a:xfrm>
            <a:off x="5897880" y="2057400"/>
            <a:ext cx="365760" cy="3657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1" name="capa 2-1"/>
          <p:cNvSpPr/>
          <p:nvPr/>
        </p:nvSpPr>
        <p:spPr>
          <a:xfrm>
            <a:off x="6309360" y="2057400"/>
            <a:ext cx="365760" cy="365760"/>
          </a:xfrm>
          <a:prstGeom prst="rect">
            <a:avLst/>
          </a:prstGeom>
          <a:solidFill>
            <a:schemeClr val="tx2">
              <a:alpha val="60000"/>
            </a:schemeClr>
          </a:solidFill>
          <a:ln/>
        </p:spPr>
      </p:sp>
      <p:sp>
        <p:nvSpPr>
          <p:cNvPr id="22" name="capa 2-2"/>
          <p:cNvSpPr/>
          <p:nvPr/>
        </p:nvSpPr>
        <p:spPr>
          <a:xfrm>
            <a:off x="6720840" y="2057400"/>
            <a:ext cx="365760" cy="365760"/>
          </a:xfrm>
          <a:prstGeom prst="rect">
            <a:avLst/>
          </a:prstGeom>
          <a:solidFill>
            <a:schemeClr val="tx2">
              <a:alpha val="60000"/>
            </a:schemeClr>
          </a:solidFill>
          <a:ln/>
        </p:spPr>
      </p:sp>
      <p:sp>
        <p:nvSpPr>
          <p:cNvPr id="23" name="capa 2-3"/>
          <p:cNvSpPr/>
          <p:nvPr/>
        </p:nvSpPr>
        <p:spPr>
          <a:xfrm>
            <a:off x="7132320" y="2057400"/>
            <a:ext cx="365760" cy="3657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4" name="capa 2-4"/>
          <p:cNvSpPr/>
          <p:nvPr/>
        </p:nvSpPr>
        <p:spPr>
          <a:xfrm>
            <a:off x="7543800" y="2057400"/>
            <a:ext cx="365760" cy="365760"/>
          </a:xfrm>
          <a:prstGeom prst="rect">
            <a:avLst/>
          </a:prstGeom>
          <a:solidFill>
            <a:schemeClr val="tx2">
              <a:alpha val="60000"/>
            </a:schemeClr>
          </a:solidFill>
          <a:ln/>
        </p:spPr>
      </p:sp>
      <p:sp>
        <p:nvSpPr>
          <p:cNvPr id="25" name="capa 2-5"/>
          <p:cNvSpPr/>
          <p:nvPr/>
        </p:nvSpPr>
        <p:spPr>
          <a:xfrm>
            <a:off x="7955280" y="2057400"/>
            <a:ext cx="365760" cy="365760"/>
          </a:xfrm>
          <a:prstGeom prst="rect">
            <a:avLst/>
          </a:prstGeom>
          <a:solidFill>
            <a:schemeClr val="tx2">
              <a:alpha val="60000"/>
            </a:schemeClr>
          </a:solidFill>
          <a:ln/>
        </p:spPr>
      </p:sp>
      <p:sp>
        <p:nvSpPr>
          <p:cNvPr id="26" name="capa 2-6"/>
          <p:cNvSpPr/>
          <p:nvPr/>
        </p:nvSpPr>
        <p:spPr>
          <a:xfrm>
            <a:off x="8366760" y="2057400"/>
            <a:ext cx="365760" cy="3657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7" name="capa 3-0"/>
          <p:cNvSpPr/>
          <p:nvPr/>
        </p:nvSpPr>
        <p:spPr>
          <a:xfrm>
            <a:off x="5897880" y="2468880"/>
            <a:ext cx="365760" cy="365760"/>
          </a:xfrm>
          <a:prstGeom prst="rect">
            <a:avLst/>
          </a:prstGeom>
          <a:solidFill>
            <a:schemeClr val="tx2">
              <a:alpha val="60000"/>
            </a:schemeClr>
          </a:solidFill>
          <a:ln/>
        </p:spPr>
      </p:sp>
      <p:sp>
        <p:nvSpPr>
          <p:cNvPr id="28" name="capa 3-1"/>
          <p:cNvSpPr/>
          <p:nvPr/>
        </p:nvSpPr>
        <p:spPr>
          <a:xfrm>
            <a:off x="6309360" y="2468880"/>
            <a:ext cx="365760" cy="3657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9" name="capa 3-2"/>
          <p:cNvSpPr/>
          <p:nvPr/>
        </p:nvSpPr>
        <p:spPr>
          <a:xfrm>
            <a:off x="6720840" y="2468880"/>
            <a:ext cx="365760" cy="3657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0" name="capa 3-3"/>
          <p:cNvSpPr/>
          <p:nvPr/>
        </p:nvSpPr>
        <p:spPr>
          <a:xfrm>
            <a:off x="7132320" y="2468880"/>
            <a:ext cx="365760" cy="365760"/>
          </a:xfrm>
          <a:prstGeom prst="rect">
            <a:avLst/>
          </a:prstGeom>
          <a:solidFill>
            <a:schemeClr val="tx2">
              <a:alpha val="60000"/>
            </a:schemeClr>
          </a:solidFill>
          <a:ln/>
        </p:spPr>
      </p:sp>
      <p:sp>
        <p:nvSpPr>
          <p:cNvPr id="31" name="capa 3-4"/>
          <p:cNvSpPr/>
          <p:nvPr/>
        </p:nvSpPr>
        <p:spPr>
          <a:xfrm>
            <a:off x="7543800" y="2468880"/>
            <a:ext cx="365760" cy="365760"/>
          </a:xfrm>
          <a:prstGeom prst="rect">
            <a:avLst/>
          </a:prstGeom>
          <a:solidFill>
            <a:schemeClr val="tx2">
              <a:alpha val="60000"/>
            </a:schemeClr>
          </a:solidFill>
          <a:ln/>
        </p:spPr>
      </p:sp>
      <p:sp>
        <p:nvSpPr>
          <p:cNvPr id="32" name="capa 3-5"/>
          <p:cNvSpPr/>
          <p:nvPr/>
        </p:nvSpPr>
        <p:spPr>
          <a:xfrm>
            <a:off x="7955280" y="2468880"/>
            <a:ext cx="365760" cy="365760"/>
          </a:xfrm>
          <a:prstGeom prst="rect">
            <a:avLst/>
          </a:prstGeom>
          <a:solidFill>
            <a:schemeClr val="tx2">
              <a:alpha val="60000"/>
            </a:schemeClr>
          </a:solidFill>
          <a:ln/>
        </p:spPr>
      </p:sp>
      <p:sp>
        <p:nvSpPr>
          <p:cNvPr id="33" name="capa 3-6"/>
          <p:cNvSpPr/>
          <p:nvPr/>
        </p:nvSpPr>
        <p:spPr>
          <a:xfrm>
            <a:off x="8366760" y="2468880"/>
            <a:ext cx="365760" cy="3657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4" name="capa 4-0"/>
          <p:cNvSpPr/>
          <p:nvPr/>
        </p:nvSpPr>
        <p:spPr>
          <a:xfrm>
            <a:off x="5897880" y="2880360"/>
            <a:ext cx="365760" cy="365760"/>
          </a:xfrm>
          <a:prstGeom prst="rect">
            <a:avLst/>
          </a:prstGeom>
          <a:solidFill>
            <a:schemeClr val="tx2">
              <a:alpha val="60000"/>
            </a:schemeClr>
          </a:solidFill>
          <a:ln/>
        </p:spPr>
      </p:sp>
      <p:sp>
        <p:nvSpPr>
          <p:cNvPr id="35" name="capa 4-1"/>
          <p:cNvSpPr/>
          <p:nvPr/>
        </p:nvSpPr>
        <p:spPr>
          <a:xfrm>
            <a:off x="6309360" y="2880360"/>
            <a:ext cx="365760" cy="365760"/>
          </a:xfrm>
          <a:prstGeom prst="rect">
            <a:avLst/>
          </a:prstGeom>
          <a:solidFill>
            <a:schemeClr val="tx2">
              <a:alpha val="60000"/>
            </a:schemeClr>
          </a:solidFill>
          <a:ln/>
        </p:spPr>
      </p:sp>
      <p:sp>
        <p:nvSpPr>
          <p:cNvPr id="36" name="capa 4-2"/>
          <p:cNvSpPr/>
          <p:nvPr/>
        </p:nvSpPr>
        <p:spPr>
          <a:xfrm>
            <a:off x="6720840" y="2880360"/>
            <a:ext cx="365760" cy="3657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7" name="capa 4-3"/>
          <p:cNvSpPr/>
          <p:nvPr/>
        </p:nvSpPr>
        <p:spPr>
          <a:xfrm>
            <a:off x="7132320" y="2880360"/>
            <a:ext cx="365760" cy="365760"/>
          </a:xfrm>
          <a:prstGeom prst="rect">
            <a:avLst/>
          </a:prstGeom>
          <a:solidFill>
            <a:schemeClr val="tx2">
              <a:alpha val="60000"/>
            </a:schemeClr>
          </a:solidFill>
          <a:ln/>
        </p:spPr>
      </p:sp>
      <p:sp>
        <p:nvSpPr>
          <p:cNvPr id="38" name="capa 4-4"/>
          <p:cNvSpPr/>
          <p:nvPr/>
        </p:nvSpPr>
        <p:spPr>
          <a:xfrm>
            <a:off x="7543800" y="2880360"/>
            <a:ext cx="365760" cy="3657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9" name="capa 4-5"/>
          <p:cNvSpPr/>
          <p:nvPr/>
        </p:nvSpPr>
        <p:spPr>
          <a:xfrm>
            <a:off x="7955280" y="2880360"/>
            <a:ext cx="365760" cy="3657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0" name="capa 4-6"/>
          <p:cNvSpPr/>
          <p:nvPr/>
        </p:nvSpPr>
        <p:spPr>
          <a:xfrm>
            <a:off x="8366760" y="2880360"/>
            <a:ext cx="365760" cy="365760"/>
          </a:xfrm>
          <a:prstGeom prst="rect">
            <a:avLst/>
          </a:prstGeom>
          <a:solidFill>
            <a:schemeClr val="tx2">
              <a:alpha val="60000"/>
            </a:schemeClr>
          </a:solidFill>
          <a:ln/>
        </p:spPr>
      </p:sp>
      <p:sp>
        <p:nvSpPr>
          <p:cNvPr id="41" name="capa 5-0"/>
          <p:cNvSpPr/>
          <p:nvPr/>
        </p:nvSpPr>
        <p:spPr>
          <a:xfrm>
            <a:off x="5897880" y="3291840"/>
            <a:ext cx="365760" cy="3657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2" name="capa 5-1"/>
          <p:cNvSpPr/>
          <p:nvPr/>
        </p:nvSpPr>
        <p:spPr>
          <a:xfrm>
            <a:off x="6309360" y="3291840"/>
            <a:ext cx="365760" cy="365760"/>
          </a:xfrm>
          <a:prstGeom prst="rect">
            <a:avLst/>
          </a:prstGeom>
          <a:solidFill>
            <a:schemeClr val="tx2">
              <a:alpha val="60000"/>
            </a:schemeClr>
          </a:solidFill>
          <a:ln/>
        </p:spPr>
      </p:sp>
      <p:sp>
        <p:nvSpPr>
          <p:cNvPr id="43" name="capa 5-2"/>
          <p:cNvSpPr/>
          <p:nvPr/>
        </p:nvSpPr>
        <p:spPr>
          <a:xfrm>
            <a:off x="6720840" y="3291840"/>
            <a:ext cx="365760" cy="3657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4" name="capa 5-3"/>
          <p:cNvSpPr/>
          <p:nvPr/>
        </p:nvSpPr>
        <p:spPr>
          <a:xfrm>
            <a:off x="7132320" y="3291840"/>
            <a:ext cx="365760" cy="3657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5" name="capa 5-4"/>
          <p:cNvSpPr/>
          <p:nvPr/>
        </p:nvSpPr>
        <p:spPr>
          <a:xfrm>
            <a:off x="7543800" y="3291840"/>
            <a:ext cx="365760" cy="365760"/>
          </a:xfrm>
          <a:prstGeom prst="rect">
            <a:avLst/>
          </a:prstGeom>
          <a:solidFill>
            <a:schemeClr val="tx2">
              <a:alpha val="60000"/>
            </a:schemeClr>
          </a:solidFill>
          <a:ln/>
        </p:spPr>
      </p:sp>
      <p:sp>
        <p:nvSpPr>
          <p:cNvPr id="46" name="capa 5-5"/>
          <p:cNvSpPr/>
          <p:nvPr/>
        </p:nvSpPr>
        <p:spPr>
          <a:xfrm>
            <a:off x="7955280" y="3291840"/>
            <a:ext cx="365760" cy="365760"/>
          </a:xfrm>
          <a:prstGeom prst="rect">
            <a:avLst/>
          </a:prstGeom>
          <a:solidFill>
            <a:schemeClr val="tx2">
              <a:alpha val="60000"/>
            </a:schemeClr>
          </a:solidFill>
          <a:ln/>
        </p:spPr>
      </p:sp>
      <p:sp>
        <p:nvSpPr>
          <p:cNvPr id="47" name="capa 5-6"/>
          <p:cNvSpPr/>
          <p:nvPr/>
        </p:nvSpPr>
        <p:spPr>
          <a:xfrm>
            <a:off x="8366760" y="3291840"/>
            <a:ext cx="365760" cy="3657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8" name="capa 6-0"/>
          <p:cNvSpPr/>
          <p:nvPr/>
        </p:nvSpPr>
        <p:spPr>
          <a:xfrm>
            <a:off x="5897880" y="3703320"/>
            <a:ext cx="365760" cy="365760"/>
          </a:xfrm>
          <a:prstGeom prst="rect">
            <a:avLst/>
          </a:prstGeom>
          <a:solidFill>
            <a:schemeClr val="tx2">
              <a:alpha val="60000"/>
            </a:schemeClr>
          </a:solidFill>
          <a:ln/>
        </p:spPr>
      </p:sp>
      <p:sp>
        <p:nvSpPr>
          <p:cNvPr id="49" name="capa 6-1"/>
          <p:cNvSpPr/>
          <p:nvPr/>
        </p:nvSpPr>
        <p:spPr>
          <a:xfrm>
            <a:off x="6309360" y="3703320"/>
            <a:ext cx="365760" cy="3657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0" name="capa 6-2"/>
          <p:cNvSpPr/>
          <p:nvPr/>
        </p:nvSpPr>
        <p:spPr>
          <a:xfrm>
            <a:off x="6720840" y="3703320"/>
            <a:ext cx="365760" cy="365760"/>
          </a:xfrm>
          <a:prstGeom prst="rect">
            <a:avLst/>
          </a:prstGeom>
          <a:solidFill>
            <a:schemeClr val="tx2">
              <a:alpha val="60000"/>
            </a:schemeClr>
          </a:solidFill>
          <a:ln/>
        </p:spPr>
      </p:sp>
      <p:sp>
        <p:nvSpPr>
          <p:cNvPr id="51" name="capa 6-3"/>
          <p:cNvSpPr/>
          <p:nvPr/>
        </p:nvSpPr>
        <p:spPr>
          <a:xfrm>
            <a:off x="7132320" y="3703320"/>
            <a:ext cx="365760" cy="365760"/>
          </a:xfrm>
          <a:prstGeom prst="rect">
            <a:avLst/>
          </a:prstGeom>
          <a:solidFill>
            <a:schemeClr val="tx2">
              <a:alpha val="60000"/>
            </a:schemeClr>
          </a:solidFill>
          <a:ln/>
        </p:spPr>
      </p:sp>
      <p:sp>
        <p:nvSpPr>
          <p:cNvPr id="52" name="capa 6-4"/>
          <p:cNvSpPr/>
          <p:nvPr/>
        </p:nvSpPr>
        <p:spPr>
          <a:xfrm>
            <a:off x="7543800" y="3703320"/>
            <a:ext cx="365760" cy="3657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3" name="capa 6-5"/>
          <p:cNvSpPr/>
          <p:nvPr/>
        </p:nvSpPr>
        <p:spPr>
          <a:xfrm>
            <a:off x="7955280" y="3703320"/>
            <a:ext cx="365760" cy="365760"/>
          </a:xfrm>
          <a:prstGeom prst="rect">
            <a:avLst/>
          </a:prstGeom>
          <a:solidFill>
            <a:schemeClr val="tx2">
              <a:alpha val="60000"/>
            </a:schemeClr>
          </a:solidFill>
          <a:ln/>
        </p:spPr>
      </p:sp>
      <p:sp>
        <p:nvSpPr>
          <p:cNvPr id="54" name="capa 6-6"/>
          <p:cNvSpPr/>
          <p:nvPr/>
        </p:nvSpPr>
        <p:spPr>
          <a:xfrm>
            <a:off x="8366760" y="3703320"/>
            <a:ext cx="365760" cy="3657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5" name="destaque 0-0"/>
          <p:cNvSpPr/>
          <p:nvPr/>
        </p:nvSpPr>
        <p:spPr>
          <a:xfrm>
            <a:off x="5897880" y="1234440"/>
            <a:ext cx="365760" cy="36576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56" name="destaque 0-1"/>
          <p:cNvSpPr/>
          <p:nvPr/>
        </p:nvSpPr>
        <p:spPr>
          <a:xfrm>
            <a:off x="6309360" y="1234440"/>
            <a:ext cx="365760" cy="36576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57" name="destaque 1-1"/>
          <p:cNvSpPr/>
          <p:nvPr/>
        </p:nvSpPr>
        <p:spPr>
          <a:xfrm>
            <a:off x="6309360" y="1645920"/>
            <a:ext cx="365760" cy="365760"/>
          </a:xfrm>
          <a:prstGeom prst="rect">
            <a:avLst/>
          </a:prstGeom>
          <a:solidFill>
            <a:schemeClr val="accent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ao"/>
          <p:cNvSpPr txBox="1"/>
          <p:nvPr/>
        </p:nvSpPr>
        <p:spPr>
          <a:xfrm>
            <a:off x="457200" y="1097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CONTEXTO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 problema: o que é um objeto?</a:t>
            </a:r>
            <a:endParaRPr lang="en-US" sz="3000" dirty="0"/>
          </a:p>
        </p:txBody>
      </p:sp>
      <p:sp>
        <p:nvSpPr>
          <p:cNvPr id="4" name="obj 0-0"/>
          <p:cNvSpPr/>
          <p:nvPr/>
        </p:nvSpPr>
        <p:spPr>
          <a:xfrm>
            <a:off x="457200" y="1280160"/>
            <a:ext cx="502920" cy="502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obj 0-1"/>
          <p:cNvSpPr/>
          <p:nvPr/>
        </p:nvSpPr>
        <p:spPr>
          <a:xfrm>
            <a:off x="1005840" y="1280160"/>
            <a:ext cx="502920" cy="502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obj 0-2"/>
          <p:cNvSpPr/>
          <p:nvPr/>
        </p:nvSpPr>
        <p:spPr>
          <a:xfrm>
            <a:off x="1554480" y="1280160"/>
            <a:ext cx="502920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obj 0-3"/>
          <p:cNvSpPr/>
          <p:nvPr/>
        </p:nvSpPr>
        <p:spPr>
          <a:xfrm>
            <a:off x="2103120" y="1280160"/>
            <a:ext cx="502920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obj 0-4"/>
          <p:cNvSpPr/>
          <p:nvPr/>
        </p:nvSpPr>
        <p:spPr>
          <a:xfrm>
            <a:off x="2651760" y="1280160"/>
            <a:ext cx="502920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obj 1-0"/>
          <p:cNvSpPr/>
          <p:nvPr/>
        </p:nvSpPr>
        <p:spPr>
          <a:xfrm>
            <a:off x="457200" y="1828800"/>
            <a:ext cx="502920" cy="502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obj 1-1"/>
          <p:cNvSpPr/>
          <p:nvPr/>
        </p:nvSpPr>
        <p:spPr>
          <a:xfrm>
            <a:off x="1005840" y="1828800"/>
            <a:ext cx="502920" cy="502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obj 1-2"/>
          <p:cNvSpPr/>
          <p:nvPr/>
        </p:nvSpPr>
        <p:spPr>
          <a:xfrm>
            <a:off x="1554480" y="1828800"/>
            <a:ext cx="502920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obj 1-3"/>
          <p:cNvSpPr/>
          <p:nvPr/>
        </p:nvSpPr>
        <p:spPr>
          <a:xfrm>
            <a:off x="2103120" y="1828800"/>
            <a:ext cx="502920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obj 1-4"/>
          <p:cNvSpPr/>
          <p:nvPr/>
        </p:nvSpPr>
        <p:spPr>
          <a:xfrm>
            <a:off x="2651760" y="1828800"/>
            <a:ext cx="502920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obj 2-0"/>
          <p:cNvSpPr/>
          <p:nvPr/>
        </p:nvSpPr>
        <p:spPr>
          <a:xfrm>
            <a:off x="457200" y="2377440"/>
            <a:ext cx="502920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5" name="obj 2-1"/>
          <p:cNvSpPr/>
          <p:nvPr/>
        </p:nvSpPr>
        <p:spPr>
          <a:xfrm>
            <a:off x="1005840" y="2377440"/>
            <a:ext cx="502920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obj 2-2"/>
          <p:cNvSpPr/>
          <p:nvPr/>
        </p:nvSpPr>
        <p:spPr>
          <a:xfrm>
            <a:off x="1554480" y="2377440"/>
            <a:ext cx="502920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7" name="obj 2-3"/>
          <p:cNvSpPr/>
          <p:nvPr/>
        </p:nvSpPr>
        <p:spPr>
          <a:xfrm>
            <a:off x="2103120" y="2377440"/>
            <a:ext cx="502920" cy="5029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8" name="obj 2-4"/>
          <p:cNvSpPr/>
          <p:nvPr/>
        </p:nvSpPr>
        <p:spPr>
          <a:xfrm>
            <a:off x="2651760" y="2377440"/>
            <a:ext cx="502920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obj 3-0"/>
          <p:cNvSpPr/>
          <p:nvPr/>
        </p:nvSpPr>
        <p:spPr>
          <a:xfrm>
            <a:off x="457200" y="2926080"/>
            <a:ext cx="502920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0" name="obj 3-1"/>
          <p:cNvSpPr/>
          <p:nvPr/>
        </p:nvSpPr>
        <p:spPr>
          <a:xfrm>
            <a:off x="1005840" y="2926080"/>
            <a:ext cx="502920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1" name="obj 3-2"/>
          <p:cNvSpPr/>
          <p:nvPr/>
        </p:nvSpPr>
        <p:spPr>
          <a:xfrm>
            <a:off x="1554480" y="2926080"/>
            <a:ext cx="502920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obj 3-3"/>
          <p:cNvSpPr/>
          <p:nvPr/>
        </p:nvSpPr>
        <p:spPr>
          <a:xfrm>
            <a:off x="2103120" y="2926080"/>
            <a:ext cx="502920" cy="5029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3" name="obj 3-4"/>
          <p:cNvSpPr/>
          <p:nvPr/>
        </p:nvSpPr>
        <p:spPr>
          <a:xfrm>
            <a:off x="2651760" y="2926080"/>
            <a:ext cx="502920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4" name="obj 4-0"/>
          <p:cNvSpPr/>
          <p:nvPr/>
        </p:nvSpPr>
        <p:spPr>
          <a:xfrm>
            <a:off x="457200" y="3474720"/>
            <a:ext cx="502920" cy="5029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5" name="obj 4-1"/>
          <p:cNvSpPr/>
          <p:nvPr/>
        </p:nvSpPr>
        <p:spPr>
          <a:xfrm>
            <a:off x="1005840" y="3474720"/>
            <a:ext cx="502920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6" name="obj 4-2"/>
          <p:cNvSpPr/>
          <p:nvPr/>
        </p:nvSpPr>
        <p:spPr>
          <a:xfrm>
            <a:off x="1554480" y="3474720"/>
            <a:ext cx="502920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7" name="obj 4-3"/>
          <p:cNvSpPr/>
          <p:nvPr/>
        </p:nvSpPr>
        <p:spPr>
          <a:xfrm>
            <a:off x="2103120" y="3474720"/>
            <a:ext cx="502920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8" name="obj 4-4"/>
          <p:cNvSpPr/>
          <p:nvPr/>
        </p:nvSpPr>
        <p:spPr>
          <a:xfrm>
            <a:off x="2651760" y="3474720"/>
            <a:ext cx="502920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9" name="Legenda"/>
          <p:cNvSpPr txBox="1"/>
          <p:nvPr/>
        </p:nvSpPr>
        <p:spPr>
          <a:xfrm>
            <a:off x="457200" y="4069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0 = fundo   ·   1 = parte de um objeto   ·   3 objetos</a:t>
            </a:r>
            <a:endParaRPr lang="en-US" sz="1200" dirty="0"/>
          </a:p>
        </p:txBody>
      </p:sp>
      <p:sp>
        <p:nvSpPr>
          <p:cNvPr id="30" name="Subtitulo"/>
          <p:cNvSpPr txBox="1"/>
          <p:nvPr/>
        </p:nvSpPr>
        <p:spPr>
          <a:xfrm>
            <a:off x="4023360" y="1280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Conectividade 8</a:t>
            </a:r>
            <a:endParaRPr lang="en-US" sz="2000" dirty="0"/>
          </a:p>
        </p:txBody>
      </p:sp>
      <p:sp>
        <p:nvSpPr>
          <p:cNvPr id="31" name="vizinho 0-0"/>
          <p:cNvSpPr/>
          <p:nvPr/>
        </p:nvSpPr>
        <p:spPr>
          <a:xfrm>
            <a:off x="4023360" y="1783080"/>
            <a:ext cx="365760" cy="3657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2" name="vizinho 0-1"/>
          <p:cNvSpPr/>
          <p:nvPr/>
        </p:nvSpPr>
        <p:spPr>
          <a:xfrm>
            <a:off x="4434840" y="1783080"/>
            <a:ext cx="365760" cy="3657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3" name="vizinho 0-2"/>
          <p:cNvSpPr/>
          <p:nvPr/>
        </p:nvSpPr>
        <p:spPr>
          <a:xfrm>
            <a:off x="4846320" y="1783080"/>
            <a:ext cx="365760" cy="3657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4" name="vizinho 1-0"/>
          <p:cNvSpPr/>
          <p:nvPr/>
        </p:nvSpPr>
        <p:spPr>
          <a:xfrm>
            <a:off x="4023360" y="2194560"/>
            <a:ext cx="365760" cy="3657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5" name="vizinho 1-1"/>
          <p:cNvSpPr/>
          <p:nvPr/>
        </p:nvSpPr>
        <p:spPr>
          <a:xfrm>
            <a:off x="4434840" y="2194560"/>
            <a:ext cx="365760" cy="36576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6" name="vizinho 1-2"/>
          <p:cNvSpPr/>
          <p:nvPr/>
        </p:nvSpPr>
        <p:spPr>
          <a:xfrm>
            <a:off x="4846320" y="2194560"/>
            <a:ext cx="365760" cy="3657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7" name="vizinho 2-0"/>
          <p:cNvSpPr/>
          <p:nvPr/>
        </p:nvSpPr>
        <p:spPr>
          <a:xfrm>
            <a:off x="4023360" y="2606040"/>
            <a:ext cx="365760" cy="3657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8" name="vizinho 2-1"/>
          <p:cNvSpPr/>
          <p:nvPr/>
        </p:nvSpPr>
        <p:spPr>
          <a:xfrm>
            <a:off x="4434840" y="2606040"/>
            <a:ext cx="365760" cy="3657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9" name="vizinho 2-2"/>
          <p:cNvSpPr/>
          <p:nvPr/>
        </p:nvSpPr>
        <p:spPr>
          <a:xfrm>
            <a:off x="4846320" y="2606040"/>
            <a:ext cx="365760" cy="3657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0" name="Texto vizinhos"/>
          <p:cNvSpPr txBox="1"/>
          <p:nvPr/>
        </p:nvSpPr>
        <p:spPr>
          <a:xfrm>
            <a:off x="5577840" y="178308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Lados e diagonais: cada célula tem até oito vizinhos.</a:t>
            </a:r>
            <a:endParaRPr lang="en-US" sz="1600" dirty="0"/>
          </a:p>
        </p:txBody>
      </p:sp>
      <p:sp>
        <p:nvSpPr>
          <p:cNvPr id="41" name="Card desafio"/>
          <p:cNvSpPr/>
          <p:nvPr/>
        </p:nvSpPr>
        <p:spPr>
          <a:xfrm>
            <a:off x="4023360" y="3337560"/>
            <a:ext cx="466344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42" name="Texto desafio"/>
          <p:cNvSpPr txBox="1"/>
          <p:nvPr/>
        </p:nvSpPr>
        <p:spPr>
          <a:xfrm>
            <a:off x="4206240" y="338328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A pergunta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Quantos objetos existem na matriz? No exemplo ao lado, três.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ao"/>
          <p:cNvSpPr txBox="1"/>
          <p:nvPr/>
        </p:nvSpPr>
        <p:spPr>
          <a:xfrm>
            <a:off x="457200" y="1097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CONTEXTO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Conectividade 8: quem é vizinho?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94360" cy="5943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Shape 3"/>
          <p:cNvSpPr/>
          <p:nvPr/>
        </p:nvSpPr>
        <p:spPr>
          <a:xfrm>
            <a:off x="1188720" y="1371600"/>
            <a:ext cx="594360" cy="5943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0" y="1371600"/>
            <a:ext cx="594360" cy="5943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011680"/>
            <a:ext cx="594360" cy="5943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2011680"/>
            <a:ext cx="594360" cy="59436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9" name="Shape 7"/>
          <p:cNvSpPr/>
          <p:nvPr/>
        </p:nvSpPr>
        <p:spPr>
          <a:xfrm>
            <a:off x="1828800" y="2011680"/>
            <a:ext cx="594360" cy="5943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651760"/>
            <a:ext cx="594360" cy="5943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Shape 9"/>
          <p:cNvSpPr/>
          <p:nvPr/>
        </p:nvSpPr>
        <p:spPr>
          <a:xfrm>
            <a:off x="1188720" y="2651760"/>
            <a:ext cx="594360" cy="5943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Shape 10"/>
          <p:cNvSpPr/>
          <p:nvPr/>
        </p:nvSpPr>
        <p:spPr>
          <a:xfrm>
            <a:off x="1828800" y="2651760"/>
            <a:ext cx="594360" cy="5943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743200" y="137160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Cada célula tem até 8 vizinhos: 4 pelos lados e 4 pelas diagonais.</a:t>
            </a:r>
            <a:endParaRPr lang="en-US" sz="1600" dirty="0"/>
          </a:p>
        </p:txBody>
      </p:sp>
      <p:sp>
        <p:nvSpPr>
          <p:cNvPr id="14" name="diagA 0-0"/>
          <p:cNvSpPr/>
          <p:nvPr/>
        </p:nvSpPr>
        <p:spPr>
          <a:xfrm>
            <a:off x="5303520" y="1463040"/>
            <a:ext cx="411480" cy="411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5" name="diagA 0-1"/>
          <p:cNvSpPr/>
          <p:nvPr/>
        </p:nvSpPr>
        <p:spPr>
          <a:xfrm>
            <a:off x="5760720" y="1463040"/>
            <a:ext cx="411480" cy="411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diagA 0-2"/>
          <p:cNvSpPr/>
          <p:nvPr/>
        </p:nvSpPr>
        <p:spPr>
          <a:xfrm>
            <a:off x="6217920" y="1463040"/>
            <a:ext cx="411480" cy="411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7" name="diagA 1-0"/>
          <p:cNvSpPr/>
          <p:nvPr/>
        </p:nvSpPr>
        <p:spPr>
          <a:xfrm>
            <a:off x="5303520" y="1920240"/>
            <a:ext cx="411480" cy="411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8" name="diagA 1-1"/>
          <p:cNvSpPr/>
          <p:nvPr/>
        </p:nvSpPr>
        <p:spPr>
          <a:xfrm>
            <a:off x="5760720" y="1920240"/>
            <a:ext cx="411480" cy="411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9" name="diagA 1-2"/>
          <p:cNvSpPr/>
          <p:nvPr/>
        </p:nvSpPr>
        <p:spPr>
          <a:xfrm>
            <a:off x="6217920" y="1920240"/>
            <a:ext cx="411480" cy="411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0" name="diagA 2-0"/>
          <p:cNvSpPr/>
          <p:nvPr/>
        </p:nvSpPr>
        <p:spPr>
          <a:xfrm>
            <a:off x="5303520" y="2377440"/>
            <a:ext cx="411480" cy="411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1" name="diagA 2-1"/>
          <p:cNvSpPr/>
          <p:nvPr/>
        </p:nvSpPr>
        <p:spPr>
          <a:xfrm>
            <a:off x="5760720" y="2377440"/>
            <a:ext cx="411480" cy="411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diagA 2-2"/>
          <p:cNvSpPr/>
          <p:nvPr/>
        </p:nvSpPr>
        <p:spPr>
          <a:xfrm>
            <a:off x="6217920" y="2377440"/>
            <a:ext cx="411480" cy="411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3" name="diagB 0-0"/>
          <p:cNvSpPr/>
          <p:nvPr/>
        </p:nvSpPr>
        <p:spPr>
          <a:xfrm>
            <a:off x="7315200" y="1463040"/>
            <a:ext cx="411480" cy="411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4" name="diagB 0-1"/>
          <p:cNvSpPr/>
          <p:nvPr/>
        </p:nvSpPr>
        <p:spPr>
          <a:xfrm>
            <a:off x="7772400" y="1463040"/>
            <a:ext cx="411480" cy="411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5" name="diagB 0-2"/>
          <p:cNvSpPr/>
          <p:nvPr/>
        </p:nvSpPr>
        <p:spPr>
          <a:xfrm>
            <a:off x="8229600" y="1463040"/>
            <a:ext cx="411480" cy="411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6" name="diagB 1-0"/>
          <p:cNvSpPr/>
          <p:nvPr/>
        </p:nvSpPr>
        <p:spPr>
          <a:xfrm>
            <a:off x="7315200" y="1920240"/>
            <a:ext cx="411480" cy="411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7" name="diagB 1-1"/>
          <p:cNvSpPr/>
          <p:nvPr/>
        </p:nvSpPr>
        <p:spPr>
          <a:xfrm>
            <a:off x="7772400" y="1920240"/>
            <a:ext cx="411480" cy="411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8" name="diagB 1-2"/>
          <p:cNvSpPr/>
          <p:nvPr/>
        </p:nvSpPr>
        <p:spPr>
          <a:xfrm>
            <a:off x="8229600" y="1920240"/>
            <a:ext cx="411480" cy="411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9" name="diagB 2-0"/>
          <p:cNvSpPr/>
          <p:nvPr/>
        </p:nvSpPr>
        <p:spPr>
          <a:xfrm>
            <a:off x="7315200" y="2377440"/>
            <a:ext cx="411480" cy="411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0" name="diagB 2-1"/>
          <p:cNvSpPr/>
          <p:nvPr/>
        </p:nvSpPr>
        <p:spPr>
          <a:xfrm>
            <a:off x="7772400" y="2377440"/>
            <a:ext cx="411480" cy="411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1" name="diagB 2-2"/>
          <p:cNvSpPr/>
          <p:nvPr/>
        </p:nvSpPr>
        <p:spPr>
          <a:xfrm>
            <a:off x="8229600" y="2377440"/>
            <a:ext cx="411480" cy="41148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303520" y="29260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Mesmo objeto: ligados na diagonal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315200" y="2926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Objetos diferentes: sem contato</a:t>
            </a:r>
            <a:endParaRPr lang="en-US" sz="1200" dirty="0"/>
          </a:p>
        </p:txBody>
      </p:sp>
      <p:sp>
        <p:nvSpPr>
          <p:cNvPr id="34" name="Faixa"/>
          <p:cNvSpPr/>
          <p:nvPr/>
        </p:nvSpPr>
        <p:spPr>
          <a:xfrm>
            <a:off x="457200" y="3749040"/>
            <a:ext cx="8229600" cy="82296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31520" y="37490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Sem a diagonal a contagem mudaria. Por isso a conectividade 8 precisa valer também nas fronteiras entre faixas.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ao"/>
          <p:cNvSpPr txBox="1"/>
          <p:nvPr/>
        </p:nvSpPr>
        <p:spPr>
          <a:xfrm>
            <a:off x="457200" y="1097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CONTEXTO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 desafio do trabalho</a:t>
            </a:r>
            <a:endParaRPr lang="en-US" sz="3000" dirty="0"/>
          </a:p>
        </p:txBody>
      </p:sp>
      <p:sp>
        <p:nvSpPr>
          <p:cNvPr id="4" name="Desafio 0"/>
          <p:cNvSpPr/>
          <p:nvPr/>
        </p:nvSpPr>
        <p:spPr>
          <a:xfrm>
            <a:off x="457200" y="1325880"/>
            <a:ext cx="256032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5" name="Desafio num 0"/>
          <p:cNvSpPr/>
          <p:nvPr/>
        </p:nvSpPr>
        <p:spPr>
          <a:xfrm>
            <a:off x="640080" y="14630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Desafio numtxt 0"/>
          <p:cNvSpPr txBox="1"/>
          <p:nvPr/>
        </p:nvSpPr>
        <p:spPr>
          <a:xfrm>
            <a:off x="64008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Desafio txt 0"/>
          <p:cNvSpPr txBox="1"/>
          <p:nvPr/>
        </p:nvSpPr>
        <p:spPr>
          <a:xfrm>
            <a:off x="640080" y="2011680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Referência sequencial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Um único fluxo de controle: base de correção e de comparação de tempo.</a:t>
            </a:r>
            <a:endParaRPr lang="en-US" sz="1600" dirty="0"/>
          </a:p>
        </p:txBody>
      </p:sp>
      <p:sp>
        <p:nvSpPr>
          <p:cNvPr id="8" name="Desafio 1"/>
          <p:cNvSpPr/>
          <p:nvPr/>
        </p:nvSpPr>
        <p:spPr>
          <a:xfrm>
            <a:off x="3291840" y="1325880"/>
            <a:ext cx="256032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Desafio num 1"/>
          <p:cNvSpPr/>
          <p:nvPr/>
        </p:nvSpPr>
        <p:spPr>
          <a:xfrm>
            <a:off x="3474720" y="14630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Desafio numtxt 1"/>
          <p:cNvSpPr txBox="1"/>
          <p:nvPr/>
        </p:nvSpPr>
        <p:spPr>
          <a:xfrm>
            <a:off x="347472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Desafio txt 1"/>
          <p:cNvSpPr txBox="1"/>
          <p:nvPr/>
        </p:nvSpPr>
        <p:spPr>
          <a:xfrm>
            <a:off x="3474720" y="2011680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Versão paralela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Pelo menos duas threads dividindo o cálculo, em quantidade configurável.</a:t>
            </a:r>
            <a:endParaRPr lang="en-US" sz="1600" dirty="0"/>
          </a:p>
        </p:txBody>
      </p:sp>
      <p:sp>
        <p:nvSpPr>
          <p:cNvPr id="12" name="Desafio 2"/>
          <p:cNvSpPr/>
          <p:nvPr/>
        </p:nvSpPr>
        <p:spPr>
          <a:xfrm>
            <a:off x="6126480" y="1325880"/>
            <a:ext cx="256032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3" name="Desafio num 2"/>
          <p:cNvSpPr/>
          <p:nvPr/>
        </p:nvSpPr>
        <p:spPr>
          <a:xfrm>
            <a:off x="6309360" y="14630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Desafio numtxt 2"/>
          <p:cNvSpPr txBox="1"/>
          <p:nvPr/>
        </p:nvSpPr>
        <p:spPr>
          <a:xfrm>
            <a:off x="630936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Desafio txt 2"/>
          <p:cNvSpPr txBox="1"/>
          <p:nvPr/>
        </p:nvSpPr>
        <p:spPr>
          <a:xfrm>
            <a:off x="6309360" y="2011680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Mesmo resultado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Conectividade 8 preservada, sem contagem duplicada nem condição de corrida.</a:t>
            </a:r>
            <a:endParaRPr lang="en-US" sz="1600" dirty="0"/>
          </a:p>
        </p:txBody>
      </p:sp>
      <p:sp>
        <p:nvSpPr>
          <p:cNvPr id="16" name="Faixa desafio"/>
          <p:cNvSpPr/>
          <p:nvPr/>
        </p:nvSpPr>
        <p:spPr>
          <a:xfrm>
            <a:off x="457200" y="3749040"/>
            <a:ext cx="8229600" cy="82296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17" name="Texto desafio faixa"/>
          <p:cNvSpPr txBox="1"/>
          <p:nvPr/>
        </p:nvSpPr>
        <p:spPr>
          <a:xfrm>
            <a:off x="731520" y="37490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Um objeto pode ocupar duas regiões: somar as contagens locais não basta.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ao"/>
          <p:cNvSpPr txBox="1"/>
          <p:nvPr/>
        </p:nvSpPr>
        <p:spPr>
          <a:xfrm>
            <a:off x="457200" y="1097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SOLUÇÃO SEQUENCIAL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Solução sequencial (a referência)</a:t>
            </a:r>
            <a:endParaRPr lang="en-US" sz="3000" dirty="0"/>
          </a:p>
        </p:txBody>
      </p:sp>
      <p:sp>
        <p:nvSpPr>
          <p:cNvPr id="4" name="Passo 1"/>
          <p:cNvSpPr/>
          <p:nvPr/>
        </p:nvSpPr>
        <p:spPr>
          <a:xfrm>
            <a:off x="457200" y="1325880"/>
            <a:ext cx="19202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5" name="Num 1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Numtxt 1"/>
          <p:cNvSpPr txBox="1"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Passo txt 1"/>
          <p:cNvSpPr txBox="1"/>
          <p:nvPr/>
        </p:nvSpPr>
        <p:spPr>
          <a:xfrm>
            <a:off x="640080" y="20574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Percorrer a matriz</a:t>
            </a:r>
            <a:endParaRPr lang="en-US" sz="1600" dirty="0"/>
          </a:p>
        </p:txBody>
      </p:sp>
      <p:sp>
        <p:nvSpPr>
          <p:cNvPr id="8" name="Passo 2"/>
          <p:cNvSpPr/>
          <p:nvPr/>
        </p:nvSpPr>
        <p:spPr>
          <a:xfrm>
            <a:off x="2560320" y="1325880"/>
            <a:ext cx="19202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9" name="Num 2"/>
          <p:cNvSpPr/>
          <p:nvPr/>
        </p:nvSpPr>
        <p:spPr>
          <a:xfrm>
            <a:off x="2743200" y="1508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Numtxt 2"/>
          <p:cNvSpPr txBox="1"/>
          <p:nvPr/>
        </p:nvSpPr>
        <p:spPr>
          <a:xfrm>
            <a:off x="27432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Passo txt 2"/>
          <p:cNvSpPr txBox="1"/>
          <p:nvPr/>
        </p:nvSpPr>
        <p:spPr>
          <a:xfrm>
            <a:off x="2743200" y="20574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Encontrar um 1 ainda não visitado</a:t>
            </a:r>
            <a:endParaRPr lang="en-US" sz="1600" dirty="0"/>
          </a:p>
        </p:txBody>
      </p:sp>
      <p:sp>
        <p:nvSpPr>
          <p:cNvPr id="12" name="Passo 3"/>
          <p:cNvSpPr/>
          <p:nvPr/>
        </p:nvSpPr>
        <p:spPr>
          <a:xfrm>
            <a:off x="4663440" y="1325880"/>
            <a:ext cx="19202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13" name="Num 3"/>
          <p:cNvSpPr/>
          <p:nvPr/>
        </p:nvSpPr>
        <p:spPr>
          <a:xfrm>
            <a:off x="4846320" y="1508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Numtxt 3"/>
          <p:cNvSpPr txBox="1"/>
          <p:nvPr/>
        </p:nvSpPr>
        <p:spPr>
          <a:xfrm>
            <a:off x="48463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Passo txt 3"/>
          <p:cNvSpPr txBox="1"/>
          <p:nvPr/>
        </p:nvSpPr>
        <p:spPr>
          <a:xfrm>
            <a:off x="4846320" y="20574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Incrementar a contagem</a:t>
            </a:r>
            <a:endParaRPr lang="en-US" sz="1600" dirty="0"/>
          </a:p>
        </p:txBody>
      </p:sp>
      <p:sp>
        <p:nvSpPr>
          <p:cNvPr id="16" name="Passo 4"/>
          <p:cNvSpPr/>
          <p:nvPr/>
        </p:nvSpPr>
        <p:spPr>
          <a:xfrm>
            <a:off x="6766560" y="1325880"/>
            <a:ext cx="19202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17" name="Num 4"/>
          <p:cNvSpPr/>
          <p:nvPr/>
        </p:nvSpPr>
        <p:spPr>
          <a:xfrm>
            <a:off x="6949440" y="1508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Numtxt 4"/>
          <p:cNvSpPr txBox="1"/>
          <p:nvPr/>
        </p:nvSpPr>
        <p:spPr>
          <a:xfrm>
            <a:off x="69494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Passo txt 4"/>
          <p:cNvSpPr txBox="1"/>
          <p:nvPr/>
        </p:nvSpPr>
        <p:spPr>
          <a:xfrm>
            <a:off x="6949440" y="20574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Marcar todo o objeto com flood fill</a:t>
            </a:r>
            <a:endParaRPr lang="en-US" sz="1600" dirty="0"/>
          </a:p>
        </p:txBody>
      </p:sp>
      <p:sp>
        <p:nvSpPr>
          <p:cNvPr id="20" name="Faixa pilha"/>
          <p:cNvSpPr/>
          <p:nvPr/>
        </p:nvSpPr>
        <p:spPr>
          <a:xfrm>
            <a:off x="457200" y="3337560"/>
            <a:ext cx="8229600" cy="1188720"/>
          </a:xfrm>
          <a:prstGeom prst="roundRect">
            <a:avLst>
              <a:gd name="adj" fmla="val 9231"/>
            </a:avLst>
          </a:prstGeom>
          <a:solidFill>
            <a:schemeClr val="tx1"/>
          </a:solidFill>
          <a:ln/>
        </p:spPr>
      </p:sp>
      <p:sp>
        <p:nvSpPr>
          <p:cNvPr id="21" name="Texto pilha"/>
          <p:cNvSpPr txBox="1"/>
          <p:nvPr/>
        </p:nvSpPr>
        <p:spPr>
          <a:xfrm>
            <a:off x="731520" y="3383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Pilha explícita no heap, sem recursão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Evita chamadas recursivas profundas em objetos grandes. Esta versão é a referência para validar a paralela.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ao"/>
          <p:cNvSpPr txBox="1"/>
          <p:nvPr/>
        </p:nvSpPr>
        <p:spPr>
          <a:xfrm>
            <a:off x="457200" y="1097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SOLUÇÃO SEQUENCIAL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Duas matrizes: problema e anotação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matriz (nunca muda)</a:t>
            </a:r>
            <a:endParaRPr lang="en-US" sz="1400" dirty="0"/>
          </a:p>
        </p:txBody>
      </p:sp>
      <p:sp>
        <p:nvSpPr>
          <p:cNvPr id="5" name="mat 0-0"/>
          <p:cNvSpPr/>
          <p:nvPr/>
        </p:nvSpPr>
        <p:spPr>
          <a:xfrm>
            <a:off x="548640" y="1508760"/>
            <a:ext cx="411480" cy="41148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6" name="mat 0-1"/>
          <p:cNvSpPr/>
          <p:nvPr/>
        </p:nvSpPr>
        <p:spPr>
          <a:xfrm>
            <a:off x="1005840" y="1508760"/>
            <a:ext cx="411480" cy="41148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7" name="mat 0-2"/>
          <p:cNvSpPr/>
          <p:nvPr/>
        </p:nvSpPr>
        <p:spPr>
          <a:xfrm>
            <a:off x="1463040" y="1508760"/>
            <a:ext cx="411480" cy="411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mat 0-3"/>
          <p:cNvSpPr/>
          <p:nvPr/>
        </p:nvSpPr>
        <p:spPr>
          <a:xfrm>
            <a:off x="1920240" y="1508760"/>
            <a:ext cx="411480" cy="411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mat 0-4"/>
          <p:cNvSpPr/>
          <p:nvPr/>
        </p:nvSpPr>
        <p:spPr>
          <a:xfrm>
            <a:off x="2377440" y="1508760"/>
            <a:ext cx="411480" cy="411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mat 1-0"/>
          <p:cNvSpPr/>
          <p:nvPr/>
        </p:nvSpPr>
        <p:spPr>
          <a:xfrm>
            <a:off x="548640" y="1965960"/>
            <a:ext cx="411480" cy="41148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1" name="mat 1-1"/>
          <p:cNvSpPr/>
          <p:nvPr/>
        </p:nvSpPr>
        <p:spPr>
          <a:xfrm>
            <a:off x="1005840" y="1965960"/>
            <a:ext cx="411480" cy="41148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2" name="mat 1-2"/>
          <p:cNvSpPr/>
          <p:nvPr/>
        </p:nvSpPr>
        <p:spPr>
          <a:xfrm>
            <a:off x="1463040" y="1965960"/>
            <a:ext cx="411480" cy="411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mat 1-3"/>
          <p:cNvSpPr/>
          <p:nvPr/>
        </p:nvSpPr>
        <p:spPr>
          <a:xfrm>
            <a:off x="1920240" y="1965960"/>
            <a:ext cx="411480" cy="411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mat 1-4"/>
          <p:cNvSpPr/>
          <p:nvPr/>
        </p:nvSpPr>
        <p:spPr>
          <a:xfrm>
            <a:off x="2377440" y="1965960"/>
            <a:ext cx="411480" cy="411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5" name="mat 2-0"/>
          <p:cNvSpPr/>
          <p:nvPr/>
        </p:nvSpPr>
        <p:spPr>
          <a:xfrm>
            <a:off x="548640" y="2423160"/>
            <a:ext cx="411480" cy="411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mat 2-1"/>
          <p:cNvSpPr/>
          <p:nvPr/>
        </p:nvSpPr>
        <p:spPr>
          <a:xfrm>
            <a:off x="1005840" y="2423160"/>
            <a:ext cx="411480" cy="411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7" name="mat 2-2"/>
          <p:cNvSpPr/>
          <p:nvPr/>
        </p:nvSpPr>
        <p:spPr>
          <a:xfrm>
            <a:off x="1463040" y="2423160"/>
            <a:ext cx="411480" cy="411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8" name="mat 2-3"/>
          <p:cNvSpPr/>
          <p:nvPr/>
        </p:nvSpPr>
        <p:spPr>
          <a:xfrm>
            <a:off x="1920240" y="2423160"/>
            <a:ext cx="411480" cy="41148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9" name="mat 2-4"/>
          <p:cNvSpPr/>
          <p:nvPr/>
        </p:nvSpPr>
        <p:spPr>
          <a:xfrm>
            <a:off x="2377440" y="2423160"/>
            <a:ext cx="411480" cy="411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0" name="mat 3-0"/>
          <p:cNvSpPr/>
          <p:nvPr/>
        </p:nvSpPr>
        <p:spPr>
          <a:xfrm>
            <a:off x="548640" y="2880360"/>
            <a:ext cx="411480" cy="411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1" name="mat 3-1"/>
          <p:cNvSpPr/>
          <p:nvPr/>
        </p:nvSpPr>
        <p:spPr>
          <a:xfrm>
            <a:off x="1005840" y="2880360"/>
            <a:ext cx="411480" cy="411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mat 3-2"/>
          <p:cNvSpPr/>
          <p:nvPr/>
        </p:nvSpPr>
        <p:spPr>
          <a:xfrm>
            <a:off x="1463040" y="2880360"/>
            <a:ext cx="411480" cy="411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3" name="mat 3-3"/>
          <p:cNvSpPr/>
          <p:nvPr/>
        </p:nvSpPr>
        <p:spPr>
          <a:xfrm>
            <a:off x="1920240" y="2880360"/>
            <a:ext cx="411480" cy="41148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24" name="mat 3-4"/>
          <p:cNvSpPr/>
          <p:nvPr/>
        </p:nvSpPr>
        <p:spPr>
          <a:xfrm>
            <a:off x="2377440" y="2880360"/>
            <a:ext cx="411480" cy="411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5" name="mat 4-0"/>
          <p:cNvSpPr/>
          <p:nvPr/>
        </p:nvSpPr>
        <p:spPr>
          <a:xfrm>
            <a:off x="548640" y="3337560"/>
            <a:ext cx="411480" cy="41148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26" name="mat 4-1"/>
          <p:cNvSpPr/>
          <p:nvPr/>
        </p:nvSpPr>
        <p:spPr>
          <a:xfrm>
            <a:off x="1005840" y="3337560"/>
            <a:ext cx="411480" cy="411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7" name="mat 4-2"/>
          <p:cNvSpPr/>
          <p:nvPr/>
        </p:nvSpPr>
        <p:spPr>
          <a:xfrm>
            <a:off x="1463040" y="3337560"/>
            <a:ext cx="411480" cy="411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8" name="mat 4-3"/>
          <p:cNvSpPr/>
          <p:nvPr/>
        </p:nvSpPr>
        <p:spPr>
          <a:xfrm>
            <a:off x="1920240" y="3337560"/>
            <a:ext cx="411480" cy="411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9" name="mat 4-4"/>
          <p:cNvSpPr/>
          <p:nvPr/>
        </p:nvSpPr>
        <p:spPr>
          <a:xfrm>
            <a:off x="2377440" y="3337560"/>
            <a:ext cx="411480" cy="411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93776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visitado (começa toda 0)</a:t>
            </a:r>
            <a:endParaRPr lang="en-US" sz="1400" dirty="0"/>
          </a:p>
        </p:txBody>
      </p:sp>
      <p:sp>
        <p:nvSpPr>
          <p:cNvPr id="31" name="vis 0-0"/>
          <p:cNvSpPr/>
          <p:nvPr/>
        </p:nvSpPr>
        <p:spPr>
          <a:xfrm>
            <a:off x="4937760" y="1508760"/>
            <a:ext cx="411480" cy="411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2" name="vis 0-1"/>
          <p:cNvSpPr/>
          <p:nvPr/>
        </p:nvSpPr>
        <p:spPr>
          <a:xfrm>
            <a:off x="5394960" y="1508760"/>
            <a:ext cx="411480" cy="411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3" name="vis 0-2"/>
          <p:cNvSpPr/>
          <p:nvPr/>
        </p:nvSpPr>
        <p:spPr>
          <a:xfrm>
            <a:off x="5852160" y="1508760"/>
            <a:ext cx="411480" cy="411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4" name="vis 0-3"/>
          <p:cNvSpPr/>
          <p:nvPr/>
        </p:nvSpPr>
        <p:spPr>
          <a:xfrm>
            <a:off x="6309360" y="1508760"/>
            <a:ext cx="411480" cy="411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5" name="vis 0-4"/>
          <p:cNvSpPr/>
          <p:nvPr/>
        </p:nvSpPr>
        <p:spPr>
          <a:xfrm>
            <a:off x="6766560" y="1508760"/>
            <a:ext cx="411480" cy="411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6" name="vis 1-0"/>
          <p:cNvSpPr/>
          <p:nvPr/>
        </p:nvSpPr>
        <p:spPr>
          <a:xfrm>
            <a:off x="4937760" y="1965960"/>
            <a:ext cx="411480" cy="411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7" name="vis 1-1"/>
          <p:cNvSpPr/>
          <p:nvPr/>
        </p:nvSpPr>
        <p:spPr>
          <a:xfrm>
            <a:off x="5394960" y="1965960"/>
            <a:ext cx="411480" cy="411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8" name="vis 1-2"/>
          <p:cNvSpPr/>
          <p:nvPr/>
        </p:nvSpPr>
        <p:spPr>
          <a:xfrm>
            <a:off x="5852160" y="1965960"/>
            <a:ext cx="411480" cy="411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9" name="vis 1-3"/>
          <p:cNvSpPr/>
          <p:nvPr/>
        </p:nvSpPr>
        <p:spPr>
          <a:xfrm>
            <a:off x="6309360" y="1965960"/>
            <a:ext cx="411480" cy="411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0" name="vis 1-4"/>
          <p:cNvSpPr/>
          <p:nvPr/>
        </p:nvSpPr>
        <p:spPr>
          <a:xfrm>
            <a:off x="6766560" y="1965960"/>
            <a:ext cx="411480" cy="411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1" name="vis 2-0"/>
          <p:cNvSpPr/>
          <p:nvPr/>
        </p:nvSpPr>
        <p:spPr>
          <a:xfrm>
            <a:off x="4937760" y="2423160"/>
            <a:ext cx="411480" cy="411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2" name="vis 2-1"/>
          <p:cNvSpPr/>
          <p:nvPr/>
        </p:nvSpPr>
        <p:spPr>
          <a:xfrm>
            <a:off x="5394960" y="2423160"/>
            <a:ext cx="411480" cy="411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3" name="vis 2-2"/>
          <p:cNvSpPr/>
          <p:nvPr/>
        </p:nvSpPr>
        <p:spPr>
          <a:xfrm>
            <a:off x="5852160" y="2423160"/>
            <a:ext cx="411480" cy="411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4" name="vis 2-3"/>
          <p:cNvSpPr/>
          <p:nvPr/>
        </p:nvSpPr>
        <p:spPr>
          <a:xfrm>
            <a:off x="6309360" y="2423160"/>
            <a:ext cx="411480" cy="411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5" name="vis 2-4"/>
          <p:cNvSpPr/>
          <p:nvPr/>
        </p:nvSpPr>
        <p:spPr>
          <a:xfrm>
            <a:off x="6766560" y="2423160"/>
            <a:ext cx="411480" cy="411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6" name="vis 3-0"/>
          <p:cNvSpPr/>
          <p:nvPr/>
        </p:nvSpPr>
        <p:spPr>
          <a:xfrm>
            <a:off x="4937760" y="2880360"/>
            <a:ext cx="411480" cy="411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7" name="vis 3-1"/>
          <p:cNvSpPr/>
          <p:nvPr/>
        </p:nvSpPr>
        <p:spPr>
          <a:xfrm>
            <a:off x="5394960" y="2880360"/>
            <a:ext cx="411480" cy="411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8" name="vis 3-2"/>
          <p:cNvSpPr/>
          <p:nvPr/>
        </p:nvSpPr>
        <p:spPr>
          <a:xfrm>
            <a:off x="5852160" y="2880360"/>
            <a:ext cx="411480" cy="411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9" name="vis 3-3"/>
          <p:cNvSpPr/>
          <p:nvPr/>
        </p:nvSpPr>
        <p:spPr>
          <a:xfrm>
            <a:off x="6309360" y="2880360"/>
            <a:ext cx="411480" cy="411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0" name="vis 3-4"/>
          <p:cNvSpPr/>
          <p:nvPr/>
        </p:nvSpPr>
        <p:spPr>
          <a:xfrm>
            <a:off x="6766560" y="2880360"/>
            <a:ext cx="411480" cy="411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1" name="vis 4-0"/>
          <p:cNvSpPr/>
          <p:nvPr/>
        </p:nvSpPr>
        <p:spPr>
          <a:xfrm>
            <a:off x="4937760" y="3337560"/>
            <a:ext cx="411480" cy="411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2" name="vis 4-1"/>
          <p:cNvSpPr/>
          <p:nvPr/>
        </p:nvSpPr>
        <p:spPr>
          <a:xfrm>
            <a:off x="5394960" y="3337560"/>
            <a:ext cx="411480" cy="411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3" name="vis 4-2"/>
          <p:cNvSpPr/>
          <p:nvPr/>
        </p:nvSpPr>
        <p:spPr>
          <a:xfrm>
            <a:off x="5852160" y="3337560"/>
            <a:ext cx="411480" cy="411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4" name="vis 4-3"/>
          <p:cNvSpPr/>
          <p:nvPr/>
        </p:nvSpPr>
        <p:spPr>
          <a:xfrm>
            <a:off x="6309360" y="3337560"/>
            <a:ext cx="411480" cy="411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5" name="vis 4-4"/>
          <p:cNvSpPr/>
          <p:nvPr/>
        </p:nvSpPr>
        <p:spPr>
          <a:xfrm>
            <a:off x="6766560" y="3337560"/>
            <a:ext cx="411480" cy="411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3017520" y="1737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→</a:t>
            </a:r>
            <a:endParaRPr lang="en-US" sz="2800" dirty="0"/>
          </a:p>
        </p:txBody>
      </p:sp>
      <p:sp>
        <p:nvSpPr>
          <p:cNvPr id="57" name="Text 55"/>
          <p:cNvSpPr txBox="1"/>
          <p:nvPr/>
        </p:nvSpPr>
        <p:spPr>
          <a:xfrm>
            <a:off x="3017520" y="22860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Ao achar o 1 em (0,0), o flood fill marca o objeto inteiro</a:t>
            </a:r>
            <a:endParaRPr lang="en-US" sz="1200" dirty="0"/>
          </a:p>
        </p:txBody>
      </p:sp>
      <p:sp>
        <p:nvSpPr>
          <p:cNvPr id="58" name="Faixa"/>
          <p:cNvSpPr/>
          <p:nvPr/>
        </p:nvSpPr>
        <p:spPr>
          <a:xfrm>
            <a:off x="457200" y="4023360"/>
            <a:ext cx="8229600" cy="54864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731520" y="40233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Objeto novo: matriz = 1 e visitado = 0  →  total + 1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ao"/>
          <p:cNvSpPr txBox="1"/>
          <p:nvPr/>
        </p:nvSpPr>
        <p:spPr>
          <a:xfrm>
            <a:off x="457200" y="1097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SOLUÇÃO SEQUENCIAL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Flood fill passo a passo</a:t>
            </a:r>
            <a:endParaRPr lang="en-US" sz="3000" dirty="0"/>
          </a:p>
        </p:txBody>
      </p:sp>
      <p:sp>
        <p:nvSpPr>
          <p:cNvPr id="4" name="passo0 0-0"/>
          <p:cNvSpPr/>
          <p:nvPr/>
        </p:nvSpPr>
        <p:spPr>
          <a:xfrm>
            <a:off x="457200" y="1371600"/>
            <a:ext cx="265176" cy="265176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5" name="passo0 0-1"/>
          <p:cNvSpPr/>
          <p:nvPr/>
        </p:nvSpPr>
        <p:spPr>
          <a:xfrm>
            <a:off x="768096" y="1371600"/>
            <a:ext cx="265176" cy="265176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6" name="passo0 0-2"/>
          <p:cNvSpPr/>
          <p:nvPr/>
        </p:nvSpPr>
        <p:spPr>
          <a:xfrm>
            <a:off x="1078992" y="1371600"/>
            <a:ext cx="265176" cy="26517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passo0 0-3"/>
          <p:cNvSpPr/>
          <p:nvPr/>
        </p:nvSpPr>
        <p:spPr>
          <a:xfrm>
            <a:off x="1389888" y="1371600"/>
            <a:ext cx="265176" cy="26517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passo0 1-0"/>
          <p:cNvSpPr/>
          <p:nvPr/>
        </p:nvSpPr>
        <p:spPr>
          <a:xfrm>
            <a:off x="457200" y="1682496"/>
            <a:ext cx="265176" cy="26517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passo0 1-1"/>
          <p:cNvSpPr/>
          <p:nvPr/>
        </p:nvSpPr>
        <p:spPr>
          <a:xfrm>
            <a:off x="768096" y="1682496"/>
            <a:ext cx="265176" cy="26517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passo0 1-2"/>
          <p:cNvSpPr/>
          <p:nvPr/>
        </p:nvSpPr>
        <p:spPr>
          <a:xfrm>
            <a:off x="1078992" y="1682496"/>
            <a:ext cx="265176" cy="265176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1" name="passo0 1-3"/>
          <p:cNvSpPr/>
          <p:nvPr/>
        </p:nvSpPr>
        <p:spPr>
          <a:xfrm>
            <a:off x="1389888" y="1682496"/>
            <a:ext cx="265176" cy="26517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passo0 2-0"/>
          <p:cNvSpPr/>
          <p:nvPr/>
        </p:nvSpPr>
        <p:spPr>
          <a:xfrm>
            <a:off x="457200" y="1993392"/>
            <a:ext cx="265176" cy="26517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passo0 2-1"/>
          <p:cNvSpPr/>
          <p:nvPr/>
        </p:nvSpPr>
        <p:spPr>
          <a:xfrm>
            <a:off x="768096" y="1993392"/>
            <a:ext cx="265176" cy="26517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passo0 2-2"/>
          <p:cNvSpPr/>
          <p:nvPr/>
        </p:nvSpPr>
        <p:spPr>
          <a:xfrm>
            <a:off x="1078992" y="1993392"/>
            <a:ext cx="265176" cy="26517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5" name="passo0 2-3"/>
          <p:cNvSpPr/>
          <p:nvPr/>
        </p:nvSpPr>
        <p:spPr>
          <a:xfrm>
            <a:off x="1389888" y="1993392"/>
            <a:ext cx="265176" cy="265176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6" name="passo0 3-0"/>
          <p:cNvSpPr/>
          <p:nvPr/>
        </p:nvSpPr>
        <p:spPr>
          <a:xfrm>
            <a:off x="457200" y="2304288"/>
            <a:ext cx="265176" cy="26517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7" name="passo0 3-1"/>
          <p:cNvSpPr/>
          <p:nvPr/>
        </p:nvSpPr>
        <p:spPr>
          <a:xfrm>
            <a:off x="768096" y="2304288"/>
            <a:ext cx="265176" cy="26517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8" name="passo0 3-2"/>
          <p:cNvSpPr/>
          <p:nvPr/>
        </p:nvSpPr>
        <p:spPr>
          <a:xfrm>
            <a:off x="1078992" y="2304288"/>
            <a:ext cx="265176" cy="26517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passo0 3-3"/>
          <p:cNvSpPr/>
          <p:nvPr/>
        </p:nvSpPr>
        <p:spPr>
          <a:xfrm>
            <a:off x="1389888" y="2304288"/>
            <a:ext cx="265176" cy="26517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7200" y="27432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1. Marca e empilha (0,0)</a:t>
            </a:r>
            <a:endParaRPr lang="en-US" sz="1200" dirty="0"/>
          </a:p>
        </p:txBody>
      </p:sp>
      <p:sp>
        <p:nvSpPr>
          <p:cNvPr id="21" name="passo1 0-0"/>
          <p:cNvSpPr/>
          <p:nvPr/>
        </p:nvSpPr>
        <p:spPr>
          <a:xfrm>
            <a:off x="2103120" y="1371600"/>
            <a:ext cx="265176" cy="26517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2" name="passo1 0-1"/>
          <p:cNvSpPr/>
          <p:nvPr/>
        </p:nvSpPr>
        <p:spPr>
          <a:xfrm>
            <a:off x="2414016" y="1371600"/>
            <a:ext cx="265176" cy="265176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3" name="passo1 0-2"/>
          <p:cNvSpPr/>
          <p:nvPr/>
        </p:nvSpPr>
        <p:spPr>
          <a:xfrm>
            <a:off x="2724912" y="1371600"/>
            <a:ext cx="265176" cy="26517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4" name="passo1 0-3"/>
          <p:cNvSpPr/>
          <p:nvPr/>
        </p:nvSpPr>
        <p:spPr>
          <a:xfrm>
            <a:off x="3035808" y="1371600"/>
            <a:ext cx="265176" cy="26517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5" name="passo1 1-0"/>
          <p:cNvSpPr/>
          <p:nvPr/>
        </p:nvSpPr>
        <p:spPr>
          <a:xfrm>
            <a:off x="2103120" y="1682496"/>
            <a:ext cx="265176" cy="26517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6" name="passo1 1-1"/>
          <p:cNvSpPr/>
          <p:nvPr/>
        </p:nvSpPr>
        <p:spPr>
          <a:xfrm>
            <a:off x="2414016" y="1682496"/>
            <a:ext cx="265176" cy="26517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7" name="passo1 1-2"/>
          <p:cNvSpPr/>
          <p:nvPr/>
        </p:nvSpPr>
        <p:spPr>
          <a:xfrm>
            <a:off x="2724912" y="1682496"/>
            <a:ext cx="265176" cy="265176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28" name="passo1 1-3"/>
          <p:cNvSpPr/>
          <p:nvPr/>
        </p:nvSpPr>
        <p:spPr>
          <a:xfrm>
            <a:off x="3035808" y="1682496"/>
            <a:ext cx="265176" cy="26517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9" name="passo1 2-0"/>
          <p:cNvSpPr/>
          <p:nvPr/>
        </p:nvSpPr>
        <p:spPr>
          <a:xfrm>
            <a:off x="2103120" y="1993392"/>
            <a:ext cx="265176" cy="26517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0" name="passo1 2-1"/>
          <p:cNvSpPr/>
          <p:nvPr/>
        </p:nvSpPr>
        <p:spPr>
          <a:xfrm>
            <a:off x="2414016" y="1993392"/>
            <a:ext cx="265176" cy="26517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1" name="passo1 2-2"/>
          <p:cNvSpPr/>
          <p:nvPr/>
        </p:nvSpPr>
        <p:spPr>
          <a:xfrm>
            <a:off x="2724912" y="1993392"/>
            <a:ext cx="265176" cy="26517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2" name="passo1 2-3"/>
          <p:cNvSpPr/>
          <p:nvPr/>
        </p:nvSpPr>
        <p:spPr>
          <a:xfrm>
            <a:off x="3035808" y="1993392"/>
            <a:ext cx="265176" cy="265176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33" name="passo1 3-0"/>
          <p:cNvSpPr/>
          <p:nvPr/>
        </p:nvSpPr>
        <p:spPr>
          <a:xfrm>
            <a:off x="2103120" y="2304288"/>
            <a:ext cx="265176" cy="26517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4" name="passo1 3-1"/>
          <p:cNvSpPr/>
          <p:nvPr/>
        </p:nvSpPr>
        <p:spPr>
          <a:xfrm>
            <a:off x="2414016" y="2304288"/>
            <a:ext cx="265176" cy="26517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5" name="passo1 3-2"/>
          <p:cNvSpPr/>
          <p:nvPr/>
        </p:nvSpPr>
        <p:spPr>
          <a:xfrm>
            <a:off x="2724912" y="2304288"/>
            <a:ext cx="265176" cy="26517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6" name="passo1 3-3"/>
          <p:cNvSpPr/>
          <p:nvPr/>
        </p:nvSpPr>
        <p:spPr>
          <a:xfrm>
            <a:off x="3035808" y="2304288"/>
            <a:ext cx="265176" cy="26517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2103120" y="27432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2. Tira (0,0); empilha (0,1)</a:t>
            </a:r>
            <a:endParaRPr lang="en-US" sz="1200" dirty="0"/>
          </a:p>
        </p:txBody>
      </p:sp>
      <p:sp>
        <p:nvSpPr>
          <p:cNvPr id="38" name="passo2 0-0"/>
          <p:cNvSpPr/>
          <p:nvPr/>
        </p:nvSpPr>
        <p:spPr>
          <a:xfrm>
            <a:off x="3749040" y="1371600"/>
            <a:ext cx="265176" cy="26517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9" name="passo2 0-1"/>
          <p:cNvSpPr/>
          <p:nvPr/>
        </p:nvSpPr>
        <p:spPr>
          <a:xfrm>
            <a:off x="4059936" y="1371600"/>
            <a:ext cx="265176" cy="26517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0" name="passo2 0-2"/>
          <p:cNvSpPr/>
          <p:nvPr/>
        </p:nvSpPr>
        <p:spPr>
          <a:xfrm>
            <a:off x="4370832" y="1371600"/>
            <a:ext cx="265176" cy="26517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1" name="passo2 0-3"/>
          <p:cNvSpPr/>
          <p:nvPr/>
        </p:nvSpPr>
        <p:spPr>
          <a:xfrm>
            <a:off x="4681728" y="1371600"/>
            <a:ext cx="265176" cy="26517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2" name="passo2 1-0"/>
          <p:cNvSpPr/>
          <p:nvPr/>
        </p:nvSpPr>
        <p:spPr>
          <a:xfrm>
            <a:off x="3749040" y="1682496"/>
            <a:ext cx="265176" cy="26517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3" name="passo2 1-1"/>
          <p:cNvSpPr/>
          <p:nvPr/>
        </p:nvSpPr>
        <p:spPr>
          <a:xfrm>
            <a:off x="4059936" y="1682496"/>
            <a:ext cx="265176" cy="26517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4" name="passo2 1-2"/>
          <p:cNvSpPr/>
          <p:nvPr/>
        </p:nvSpPr>
        <p:spPr>
          <a:xfrm>
            <a:off x="4370832" y="1682496"/>
            <a:ext cx="265176" cy="265176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5" name="passo2 1-3"/>
          <p:cNvSpPr/>
          <p:nvPr/>
        </p:nvSpPr>
        <p:spPr>
          <a:xfrm>
            <a:off x="4681728" y="1682496"/>
            <a:ext cx="265176" cy="26517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6" name="passo2 2-0"/>
          <p:cNvSpPr/>
          <p:nvPr/>
        </p:nvSpPr>
        <p:spPr>
          <a:xfrm>
            <a:off x="3749040" y="1993392"/>
            <a:ext cx="265176" cy="26517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7" name="passo2 2-1"/>
          <p:cNvSpPr/>
          <p:nvPr/>
        </p:nvSpPr>
        <p:spPr>
          <a:xfrm>
            <a:off x="4059936" y="1993392"/>
            <a:ext cx="265176" cy="26517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8" name="passo2 2-2"/>
          <p:cNvSpPr/>
          <p:nvPr/>
        </p:nvSpPr>
        <p:spPr>
          <a:xfrm>
            <a:off x="4370832" y="1993392"/>
            <a:ext cx="265176" cy="26517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9" name="passo2 2-3"/>
          <p:cNvSpPr/>
          <p:nvPr/>
        </p:nvSpPr>
        <p:spPr>
          <a:xfrm>
            <a:off x="4681728" y="1993392"/>
            <a:ext cx="265176" cy="265176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50" name="passo2 3-0"/>
          <p:cNvSpPr/>
          <p:nvPr/>
        </p:nvSpPr>
        <p:spPr>
          <a:xfrm>
            <a:off x="3749040" y="2304288"/>
            <a:ext cx="265176" cy="26517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1" name="passo2 3-1"/>
          <p:cNvSpPr/>
          <p:nvPr/>
        </p:nvSpPr>
        <p:spPr>
          <a:xfrm>
            <a:off x="4059936" y="2304288"/>
            <a:ext cx="265176" cy="26517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2" name="passo2 3-2"/>
          <p:cNvSpPr/>
          <p:nvPr/>
        </p:nvSpPr>
        <p:spPr>
          <a:xfrm>
            <a:off x="4370832" y="2304288"/>
            <a:ext cx="265176" cy="26517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3" name="passo2 3-3"/>
          <p:cNvSpPr/>
          <p:nvPr/>
        </p:nvSpPr>
        <p:spPr>
          <a:xfrm>
            <a:off x="4681728" y="2304288"/>
            <a:ext cx="265176" cy="26517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3749040" y="27432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3. Tira (0,1); empilha (1,2)</a:t>
            </a:r>
            <a:endParaRPr lang="en-US" sz="1200" dirty="0"/>
          </a:p>
        </p:txBody>
      </p:sp>
      <p:sp>
        <p:nvSpPr>
          <p:cNvPr id="55" name="passo3 0-0"/>
          <p:cNvSpPr/>
          <p:nvPr/>
        </p:nvSpPr>
        <p:spPr>
          <a:xfrm>
            <a:off x="5394960" y="1371600"/>
            <a:ext cx="265176" cy="26517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6" name="passo3 0-1"/>
          <p:cNvSpPr/>
          <p:nvPr/>
        </p:nvSpPr>
        <p:spPr>
          <a:xfrm>
            <a:off x="5705856" y="1371600"/>
            <a:ext cx="265176" cy="26517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7" name="passo3 0-2"/>
          <p:cNvSpPr/>
          <p:nvPr/>
        </p:nvSpPr>
        <p:spPr>
          <a:xfrm>
            <a:off x="6016752" y="1371600"/>
            <a:ext cx="265176" cy="26517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8" name="passo3 0-3"/>
          <p:cNvSpPr/>
          <p:nvPr/>
        </p:nvSpPr>
        <p:spPr>
          <a:xfrm>
            <a:off x="6327648" y="1371600"/>
            <a:ext cx="265176" cy="26517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9" name="passo3 1-0"/>
          <p:cNvSpPr/>
          <p:nvPr/>
        </p:nvSpPr>
        <p:spPr>
          <a:xfrm>
            <a:off x="5394960" y="1682496"/>
            <a:ext cx="265176" cy="26517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0" name="passo3 1-1"/>
          <p:cNvSpPr/>
          <p:nvPr/>
        </p:nvSpPr>
        <p:spPr>
          <a:xfrm>
            <a:off x="5705856" y="1682496"/>
            <a:ext cx="265176" cy="26517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1" name="passo3 1-2"/>
          <p:cNvSpPr/>
          <p:nvPr/>
        </p:nvSpPr>
        <p:spPr>
          <a:xfrm>
            <a:off x="6016752" y="1682496"/>
            <a:ext cx="265176" cy="26517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2" name="passo3 1-3"/>
          <p:cNvSpPr/>
          <p:nvPr/>
        </p:nvSpPr>
        <p:spPr>
          <a:xfrm>
            <a:off x="6327648" y="1682496"/>
            <a:ext cx="265176" cy="26517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3" name="passo3 2-0"/>
          <p:cNvSpPr/>
          <p:nvPr/>
        </p:nvSpPr>
        <p:spPr>
          <a:xfrm>
            <a:off x="5394960" y="1993392"/>
            <a:ext cx="265176" cy="26517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4" name="passo3 2-1"/>
          <p:cNvSpPr/>
          <p:nvPr/>
        </p:nvSpPr>
        <p:spPr>
          <a:xfrm>
            <a:off x="5705856" y="1993392"/>
            <a:ext cx="265176" cy="26517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5" name="passo3 2-2"/>
          <p:cNvSpPr/>
          <p:nvPr/>
        </p:nvSpPr>
        <p:spPr>
          <a:xfrm>
            <a:off x="6016752" y="1993392"/>
            <a:ext cx="265176" cy="26517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6" name="passo3 2-3"/>
          <p:cNvSpPr/>
          <p:nvPr/>
        </p:nvSpPr>
        <p:spPr>
          <a:xfrm>
            <a:off x="6327648" y="1993392"/>
            <a:ext cx="265176" cy="265176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7" name="passo3 3-0"/>
          <p:cNvSpPr/>
          <p:nvPr/>
        </p:nvSpPr>
        <p:spPr>
          <a:xfrm>
            <a:off x="5394960" y="2304288"/>
            <a:ext cx="265176" cy="26517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8" name="passo3 3-1"/>
          <p:cNvSpPr/>
          <p:nvPr/>
        </p:nvSpPr>
        <p:spPr>
          <a:xfrm>
            <a:off x="5705856" y="2304288"/>
            <a:ext cx="265176" cy="26517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9" name="passo3 3-2"/>
          <p:cNvSpPr/>
          <p:nvPr/>
        </p:nvSpPr>
        <p:spPr>
          <a:xfrm>
            <a:off x="6016752" y="2304288"/>
            <a:ext cx="265176" cy="26517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0" name="passo3 3-3"/>
          <p:cNvSpPr/>
          <p:nvPr/>
        </p:nvSpPr>
        <p:spPr>
          <a:xfrm>
            <a:off x="6327648" y="2304288"/>
            <a:ext cx="265176" cy="26517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5394960" y="27432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4. Tira (1,2); empilha (2,3)</a:t>
            </a:r>
            <a:endParaRPr lang="en-US" sz="1200" dirty="0"/>
          </a:p>
        </p:txBody>
      </p:sp>
      <p:sp>
        <p:nvSpPr>
          <p:cNvPr id="72" name="passo4 0-0"/>
          <p:cNvSpPr/>
          <p:nvPr/>
        </p:nvSpPr>
        <p:spPr>
          <a:xfrm>
            <a:off x="7040880" y="1371600"/>
            <a:ext cx="265176" cy="26517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3" name="passo4 0-1"/>
          <p:cNvSpPr/>
          <p:nvPr/>
        </p:nvSpPr>
        <p:spPr>
          <a:xfrm>
            <a:off x="7351776" y="1371600"/>
            <a:ext cx="265176" cy="26517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4" name="passo4 0-2"/>
          <p:cNvSpPr/>
          <p:nvPr/>
        </p:nvSpPr>
        <p:spPr>
          <a:xfrm>
            <a:off x="7662672" y="1371600"/>
            <a:ext cx="265176" cy="26517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5" name="passo4 0-3"/>
          <p:cNvSpPr/>
          <p:nvPr/>
        </p:nvSpPr>
        <p:spPr>
          <a:xfrm>
            <a:off x="7973568" y="1371600"/>
            <a:ext cx="265176" cy="26517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6" name="passo4 1-0"/>
          <p:cNvSpPr/>
          <p:nvPr/>
        </p:nvSpPr>
        <p:spPr>
          <a:xfrm>
            <a:off x="7040880" y="1682496"/>
            <a:ext cx="265176" cy="26517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7" name="passo4 1-1"/>
          <p:cNvSpPr/>
          <p:nvPr/>
        </p:nvSpPr>
        <p:spPr>
          <a:xfrm>
            <a:off x="7351776" y="1682496"/>
            <a:ext cx="265176" cy="26517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8" name="passo4 1-2"/>
          <p:cNvSpPr/>
          <p:nvPr/>
        </p:nvSpPr>
        <p:spPr>
          <a:xfrm>
            <a:off x="7662672" y="1682496"/>
            <a:ext cx="265176" cy="26517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9" name="passo4 1-3"/>
          <p:cNvSpPr/>
          <p:nvPr/>
        </p:nvSpPr>
        <p:spPr>
          <a:xfrm>
            <a:off x="7973568" y="1682496"/>
            <a:ext cx="265176" cy="26517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0" name="passo4 2-0"/>
          <p:cNvSpPr/>
          <p:nvPr/>
        </p:nvSpPr>
        <p:spPr>
          <a:xfrm>
            <a:off x="7040880" y="1993392"/>
            <a:ext cx="265176" cy="26517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1" name="passo4 2-1"/>
          <p:cNvSpPr/>
          <p:nvPr/>
        </p:nvSpPr>
        <p:spPr>
          <a:xfrm>
            <a:off x="7351776" y="1993392"/>
            <a:ext cx="265176" cy="26517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2" name="passo4 2-2"/>
          <p:cNvSpPr/>
          <p:nvPr/>
        </p:nvSpPr>
        <p:spPr>
          <a:xfrm>
            <a:off x="7662672" y="1993392"/>
            <a:ext cx="265176" cy="26517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3" name="passo4 2-3"/>
          <p:cNvSpPr/>
          <p:nvPr/>
        </p:nvSpPr>
        <p:spPr>
          <a:xfrm>
            <a:off x="7973568" y="1993392"/>
            <a:ext cx="265176" cy="26517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4" name="passo4 3-0"/>
          <p:cNvSpPr/>
          <p:nvPr/>
        </p:nvSpPr>
        <p:spPr>
          <a:xfrm>
            <a:off x="7040880" y="2304288"/>
            <a:ext cx="265176" cy="26517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5" name="passo4 3-1"/>
          <p:cNvSpPr/>
          <p:nvPr/>
        </p:nvSpPr>
        <p:spPr>
          <a:xfrm>
            <a:off x="7351776" y="2304288"/>
            <a:ext cx="265176" cy="26517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6" name="passo4 3-2"/>
          <p:cNvSpPr/>
          <p:nvPr/>
        </p:nvSpPr>
        <p:spPr>
          <a:xfrm>
            <a:off x="7662672" y="2304288"/>
            <a:ext cx="265176" cy="26517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7" name="passo4 3-3"/>
          <p:cNvSpPr/>
          <p:nvPr/>
        </p:nvSpPr>
        <p:spPr>
          <a:xfrm>
            <a:off x="7973568" y="2304288"/>
            <a:ext cx="265176" cy="26517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8" name="Text 86"/>
          <p:cNvSpPr txBox="1"/>
          <p:nvPr/>
        </p:nvSpPr>
        <p:spPr>
          <a:xfrm>
            <a:off x="7040880" y="27432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5. Tira (2,3): pilha vazia</a:t>
            </a:r>
            <a:endParaRPr lang="en-US" sz="1200" dirty="0"/>
          </a:p>
        </p:txBody>
      </p:sp>
      <p:sp>
        <p:nvSpPr>
          <p:cNvPr id="89" name="Text 87"/>
          <p:cNvSpPr txBox="1"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Cinza: terra ainda não visitada  ·  Âmbar: na pilha  ·  Verde: já marcada</a:t>
            </a:r>
            <a:endParaRPr lang="en-US" sz="1200" dirty="0"/>
          </a:p>
        </p:txBody>
      </p:sp>
      <p:sp>
        <p:nvSpPr>
          <p:cNvPr id="90" name="Faixa"/>
          <p:cNvSpPr/>
          <p:nvPr/>
        </p:nvSpPr>
        <p:spPr>
          <a:xfrm>
            <a:off x="457200" y="3977640"/>
            <a:ext cx="8229600" cy="594360"/>
          </a:xfrm>
          <a:prstGeom prst="roundRect">
            <a:avLst>
              <a:gd name="adj" fmla="val 18462"/>
            </a:avLst>
          </a:prstGeom>
          <a:solidFill>
            <a:schemeClr val="tx1"/>
          </a:solidFill>
          <a:ln/>
        </p:spPr>
      </p:sp>
      <p:sp>
        <p:nvSpPr>
          <p:cNvPr id="91" name="Text 89"/>
          <p:cNvSpPr txBox="1"/>
          <p:nvPr/>
        </p:nvSpPr>
        <p:spPr>
          <a:xfrm>
            <a:off x="731520" y="397764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Cada célula retirada olha seus 8 vizinhos e empilha os 1 ainda não marcados.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ao"/>
          <p:cNvSpPr txBox="1"/>
          <p:nvPr/>
        </p:nvSpPr>
        <p:spPr>
          <a:xfrm>
            <a:off x="457200" y="1097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SOLUÇÃO SEQUENCIAL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Por que uma pilha explícita?</a:t>
            </a:r>
            <a:endParaRPr lang="en-US" sz="3000" dirty="0"/>
          </a:p>
        </p:txBody>
      </p:sp>
      <p:sp>
        <p:nvSpPr>
          <p:cNvPr id="4" name="cruz 0-0"/>
          <p:cNvSpPr/>
          <p:nvPr/>
        </p:nvSpPr>
        <p:spPr>
          <a:xfrm>
            <a:off x="457200" y="1371600"/>
            <a:ext cx="502920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cruz 0-1"/>
          <p:cNvSpPr/>
          <p:nvPr/>
        </p:nvSpPr>
        <p:spPr>
          <a:xfrm>
            <a:off x="1005840" y="1371600"/>
            <a:ext cx="502920" cy="502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cruz 0-2"/>
          <p:cNvSpPr/>
          <p:nvPr/>
        </p:nvSpPr>
        <p:spPr>
          <a:xfrm>
            <a:off x="1554480" y="1371600"/>
            <a:ext cx="502920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cruz 1-0"/>
          <p:cNvSpPr/>
          <p:nvPr/>
        </p:nvSpPr>
        <p:spPr>
          <a:xfrm>
            <a:off x="457200" y="1920240"/>
            <a:ext cx="502920" cy="5029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8" name="cruz 1-1"/>
          <p:cNvSpPr/>
          <p:nvPr/>
        </p:nvSpPr>
        <p:spPr>
          <a:xfrm>
            <a:off x="1005840" y="1920240"/>
            <a:ext cx="502920" cy="5029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9" name="cruz 1-2"/>
          <p:cNvSpPr/>
          <p:nvPr/>
        </p:nvSpPr>
        <p:spPr>
          <a:xfrm>
            <a:off x="1554480" y="1920240"/>
            <a:ext cx="502920" cy="5029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0" name="cruz 2-0"/>
          <p:cNvSpPr/>
          <p:nvPr/>
        </p:nvSpPr>
        <p:spPr>
          <a:xfrm>
            <a:off x="457200" y="2468880"/>
            <a:ext cx="502920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cruz 2-1"/>
          <p:cNvSpPr/>
          <p:nvPr/>
        </p:nvSpPr>
        <p:spPr>
          <a:xfrm>
            <a:off x="1005840" y="2468880"/>
            <a:ext cx="502920" cy="50292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2" name="cruz 2-2"/>
          <p:cNvSpPr/>
          <p:nvPr/>
        </p:nvSpPr>
        <p:spPr>
          <a:xfrm>
            <a:off x="1554480" y="2468880"/>
            <a:ext cx="502920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pilha 0"/>
          <p:cNvSpPr/>
          <p:nvPr/>
        </p:nvSpPr>
        <p:spPr>
          <a:xfrm>
            <a:off x="2651760" y="1371600"/>
            <a:ext cx="1463040" cy="457200"/>
          </a:xfrm>
          <a:prstGeom prst="roundRect">
            <a:avLst>
              <a:gd name="adj" fmla="val 24000"/>
            </a:avLst>
          </a:prstGeom>
          <a:solidFill>
            <a:schemeClr val="accent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651760" y="1371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(1,2) topo</a:t>
            </a:r>
            <a:endParaRPr lang="en-US" sz="1400" dirty="0"/>
          </a:p>
        </p:txBody>
      </p:sp>
      <p:sp>
        <p:nvSpPr>
          <p:cNvPr id="15" name="pilha 1"/>
          <p:cNvSpPr/>
          <p:nvPr/>
        </p:nvSpPr>
        <p:spPr>
          <a:xfrm>
            <a:off x="2651760" y="1920240"/>
            <a:ext cx="146304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651760" y="1920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(1,1)</a:t>
            </a:r>
            <a:endParaRPr lang="en-US" sz="1400" dirty="0"/>
          </a:p>
        </p:txBody>
      </p:sp>
      <p:sp>
        <p:nvSpPr>
          <p:cNvPr id="17" name="pilha 2"/>
          <p:cNvSpPr/>
          <p:nvPr/>
        </p:nvSpPr>
        <p:spPr>
          <a:xfrm>
            <a:off x="2651760" y="2468880"/>
            <a:ext cx="146304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651760" y="2468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(1,0)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2004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Os 3 vizinhos novos entram na pilha de uma vez e saem um por vez.</a:t>
            </a:r>
            <a:endParaRPr lang="en-US" sz="1400" dirty="0"/>
          </a:p>
        </p:txBody>
      </p:sp>
      <p:sp>
        <p:nvSpPr>
          <p:cNvPr id="20" name="Card recursao"/>
          <p:cNvSpPr/>
          <p:nvPr/>
        </p:nvSpPr>
        <p:spPr>
          <a:xfrm>
            <a:off x="4572000" y="1325880"/>
            <a:ext cx="411480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754880" y="137160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Recursão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Cada chamada ocupa a pilha de chamadas do processo, que é pequena. Um objeto com milhões de células a estoura.</a:t>
            </a:r>
            <a:endParaRPr lang="en-US" sz="1400" dirty="0"/>
          </a:p>
        </p:txBody>
      </p:sp>
      <p:sp>
        <p:nvSpPr>
          <p:cNvPr id="22" name="Card pilha"/>
          <p:cNvSpPr/>
          <p:nvPr/>
        </p:nvSpPr>
        <p:spPr>
          <a:xfrm>
            <a:off x="4572000" y="2926080"/>
            <a:ext cx="411480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754880" y="297180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Pilha explícita (heap)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célula é marcada ao entrar, então entra no máximo uma vez: o vetor de linhas × colunas nunca enche.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ao"/>
          <p:cNvSpPr txBox="1"/>
          <p:nvPr/>
        </p:nvSpPr>
        <p:spPr>
          <a:xfrm>
            <a:off x="457200" y="1097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SOLUÇÃO PARALELA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Estratégia: duas fases</a:t>
            </a:r>
            <a:endParaRPr lang="en-US" sz="3000" dirty="0"/>
          </a:p>
        </p:txBody>
      </p:sp>
      <p:sp>
        <p:nvSpPr>
          <p:cNvPr id="4" name="Etapa 0"/>
          <p:cNvSpPr/>
          <p:nvPr/>
        </p:nvSpPr>
        <p:spPr>
          <a:xfrm>
            <a:off x="457200" y="1371600"/>
            <a:ext cx="1828800" cy="1737360"/>
          </a:xfrm>
          <a:prstGeom prst="roundRect">
            <a:avLst>
              <a:gd name="adj" fmla="val 6316"/>
            </a:avLst>
          </a:prstGeom>
          <a:solidFill>
            <a:schemeClr val="tx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371600"/>
            <a:ext cx="1554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Dividir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 matriz em faixas de linhas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sequencial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286000" y="2011680"/>
            <a:ext cx="301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Etapa 1"/>
          <p:cNvSpPr/>
          <p:nvPr/>
        </p:nvSpPr>
        <p:spPr>
          <a:xfrm>
            <a:off x="2587752" y="1371600"/>
            <a:ext cx="1828800" cy="1737360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724912" y="1371600"/>
            <a:ext cx="1554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Fase 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cada thread rotula a sua faixa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587752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paralelo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416552" y="2011680"/>
            <a:ext cx="301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Etapa 2"/>
          <p:cNvSpPr/>
          <p:nvPr/>
        </p:nvSpPr>
        <p:spPr>
          <a:xfrm>
            <a:off x="4718304" y="1371600"/>
            <a:ext cx="1828800" cy="1737360"/>
          </a:xfrm>
          <a:prstGeom prst="roundRect">
            <a:avLst>
              <a:gd name="adj" fmla="val 6316"/>
            </a:avLst>
          </a:prstGeom>
          <a:solidFill>
            <a:schemeClr val="accent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55464" y="1371600"/>
            <a:ext cx="1554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pthread_join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espera todas as threads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718304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sequencial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47104" y="2011680"/>
            <a:ext cx="301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Etapa 3"/>
          <p:cNvSpPr/>
          <p:nvPr/>
        </p:nvSpPr>
        <p:spPr>
          <a:xfrm>
            <a:off x="6848856" y="1371600"/>
            <a:ext cx="1828800" cy="1737360"/>
          </a:xfrm>
          <a:prstGeom prst="roundRect">
            <a:avLst>
              <a:gd name="adj" fmla="val 6316"/>
            </a:avLst>
          </a:prstGeom>
          <a:solidFill>
            <a:schemeClr val="tx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986016" y="1371600"/>
            <a:ext cx="1554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Fase 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une objetos nas fronteiras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848856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sequencial</a:t>
            </a:r>
            <a:endParaRPr lang="en-US" sz="1200" dirty="0"/>
          </a:p>
        </p:txBody>
      </p:sp>
      <p:sp>
        <p:nvSpPr>
          <p:cNvPr id="19" name="Faixa"/>
          <p:cNvSpPr/>
          <p:nvPr/>
        </p:nvSpPr>
        <p:spPr>
          <a:xfrm>
            <a:off x="457200" y="3749040"/>
            <a:ext cx="8229600" cy="82296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37490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Total = soma das contagens locais − uniões efetivas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ao"/>
          <p:cNvSpPr txBox="1"/>
          <p:nvPr/>
        </p:nvSpPr>
        <p:spPr>
          <a:xfrm>
            <a:off x="457200" y="1097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SOLUÇÃO PARALELA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Divisão da matriz entre threads</a:t>
            </a:r>
            <a:endParaRPr lang="en-US" sz="3000" dirty="0"/>
          </a:p>
        </p:txBody>
      </p:sp>
      <p:sp>
        <p:nvSpPr>
          <p:cNvPr id="4" name="faixa 0-0"/>
          <p:cNvSpPr/>
          <p:nvPr/>
        </p:nvSpPr>
        <p:spPr>
          <a:xfrm>
            <a:off x="914400" y="1280160"/>
            <a:ext cx="301752" cy="30175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faixa 0-1"/>
          <p:cNvSpPr/>
          <p:nvPr/>
        </p:nvSpPr>
        <p:spPr>
          <a:xfrm>
            <a:off x="1261872" y="1280160"/>
            <a:ext cx="301752" cy="30175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faixa 0-2"/>
          <p:cNvSpPr/>
          <p:nvPr/>
        </p:nvSpPr>
        <p:spPr>
          <a:xfrm>
            <a:off x="1609344" y="1280160"/>
            <a:ext cx="301752" cy="301752"/>
          </a:xfrm>
          <a:prstGeom prst="rect">
            <a:avLst/>
          </a:prstGeom>
          <a:solidFill>
            <a:schemeClr val="accent1">
              <a:alpha val="25000"/>
            </a:schemeClr>
          </a:solidFill>
          <a:ln/>
        </p:spPr>
      </p:sp>
      <p:sp>
        <p:nvSpPr>
          <p:cNvPr id="7" name="faixa 0-3"/>
          <p:cNvSpPr/>
          <p:nvPr/>
        </p:nvSpPr>
        <p:spPr>
          <a:xfrm>
            <a:off x="1956816" y="1280160"/>
            <a:ext cx="301752" cy="301752"/>
          </a:xfrm>
          <a:prstGeom prst="rect">
            <a:avLst/>
          </a:prstGeom>
          <a:solidFill>
            <a:schemeClr val="accent1">
              <a:alpha val="25000"/>
            </a:schemeClr>
          </a:solidFill>
          <a:ln/>
        </p:spPr>
      </p:sp>
      <p:sp>
        <p:nvSpPr>
          <p:cNvPr id="8" name="faixa 0-4"/>
          <p:cNvSpPr/>
          <p:nvPr/>
        </p:nvSpPr>
        <p:spPr>
          <a:xfrm>
            <a:off x="2304288" y="1280160"/>
            <a:ext cx="301752" cy="301752"/>
          </a:xfrm>
          <a:prstGeom prst="rect">
            <a:avLst/>
          </a:prstGeom>
          <a:solidFill>
            <a:schemeClr val="accent1">
              <a:alpha val="25000"/>
            </a:schemeClr>
          </a:solidFill>
          <a:ln/>
        </p:spPr>
      </p:sp>
      <p:sp>
        <p:nvSpPr>
          <p:cNvPr id="9" name="faixa 0-5"/>
          <p:cNvSpPr/>
          <p:nvPr/>
        </p:nvSpPr>
        <p:spPr>
          <a:xfrm>
            <a:off x="2651760" y="1280160"/>
            <a:ext cx="301752" cy="301752"/>
          </a:xfrm>
          <a:prstGeom prst="rect">
            <a:avLst/>
          </a:prstGeom>
          <a:solidFill>
            <a:schemeClr val="accent1">
              <a:alpha val="25000"/>
            </a:schemeClr>
          </a:solidFill>
          <a:ln/>
        </p:spPr>
      </p:sp>
      <p:sp>
        <p:nvSpPr>
          <p:cNvPr id="10" name="faixa 0-6"/>
          <p:cNvSpPr/>
          <p:nvPr/>
        </p:nvSpPr>
        <p:spPr>
          <a:xfrm>
            <a:off x="2999232" y="1280160"/>
            <a:ext cx="301752" cy="301752"/>
          </a:xfrm>
          <a:prstGeom prst="rect">
            <a:avLst/>
          </a:prstGeom>
          <a:solidFill>
            <a:schemeClr val="accent1">
              <a:alpha val="25000"/>
            </a:schemeClr>
          </a:solidFill>
          <a:ln/>
        </p:spPr>
      </p:sp>
      <p:sp>
        <p:nvSpPr>
          <p:cNvPr id="11" name="faixa 0-7"/>
          <p:cNvSpPr/>
          <p:nvPr/>
        </p:nvSpPr>
        <p:spPr>
          <a:xfrm>
            <a:off x="3346704" y="1280160"/>
            <a:ext cx="301752" cy="30175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faixa 0-8"/>
          <p:cNvSpPr/>
          <p:nvPr/>
        </p:nvSpPr>
        <p:spPr>
          <a:xfrm>
            <a:off x="3694176" y="1280160"/>
            <a:ext cx="301752" cy="30175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3" name="faixa 0-9"/>
          <p:cNvSpPr/>
          <p:nvPr/>
        </p:nvSpPr>
        <p:spPr>
          <a:xfrm>
            <a:off x="4041648" y="1280160"/>
            <a:ext cx="301752" cy="301752"/>
          </a:xfrm>
          <a:prstGeom prst="rect">
            <a:avLst/>
          </a:prstGeom>
          <a:solidFill>
            <a:schemeClr val="accent1">
              <a:alpha val="25000"/>
            </a:schemeClr>
          </a:solidFill>
          <a:ln/>
        </p:spPr>
      </p:sp>
      <p:sp>
        <p:nvSpPr>
          <p:cNvPr id="14" name="faixa 1-0"/>
          <p:cNvSpPr/>
          <p:nvPr/>
        </p:nvSpPr>
        <p:spPr>
          <a:xfrm>
            <a:off x="914400" y="1627632"/>
            <a:ext cx="301752" cy="301752"/>
          </a:xfrm>
          <a:prstGeom prst="rect">
            <a:avLst/>
          </a:prstGeom>
          <a:solidFill>
            <a:schemeClr val="accent1">
              <a:alpha val="25000"/>
            </a:schemeClr>
          </a:solidFill>
          <a:ln/>
        </p:spPr>
      </p:sp>
      <p:sp>
        <p:nvSpPr>
          <p:cNvPr id="15" name="faixa 1-1"/>
          <p:cNvSpPr/>
          <p:nvPr/>
        </p:nvSpPr>
        <p:spPr>
          <a:xfrm>
            <a:off x="1261872" y="1627632"/>
            <a:ext cx="301752" cy="30175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6" name="faixa 1-2"/>
          <p:cNvSpPr/>
          <p:nvPr/>
        </p:nvSpPr>
        <p:spPr>
          <a:xfrm>
            <a:off x="1609344" y="1627632"/>
            <a:ext cx="301752" cy="301752"/>
          </a:xfrm>
          <a:prstGeom prst="rect">
            <a:avLst/>
          </a:prstGeom>
          <a:solidFill>
            <a:schemeClr val="accent1">
              <a:alpha val="25000"/>
            </a:schemeClr>
          </a:solidFill>
          <a:ln/>
        </p:spPr>
      </p:sp>
      <p:sp>
        <p:nvSpPr>
          <p:cNvPr id="17" name="faixa 1-3"/>
          <p:cNvSpPr/>
          <p:nvPr/>
        </p:nvSpPr>
        <p:spPr>
          <a:xfrm>
            <a:off x="1956816" y="1627632"/>
            <a:ext cx="301752" cy="301752"/>
          </a:xfrm>
          <a:prstGeom prst="rect">
            <a:avLst/>
          </a:prstGeom>
          <a:solidFill>
            <a:schemeClr val="accent1">
              <a:alpha val="25000"/>
            </a:schemeClr>
          </a:solidFill>
          <a:ln/>
        </p:spPr>
      </p:sp>
      <p:sp>
        <p:nvSpPr>
          <p:cNvPr id="18" name="faixa 1-4"/>
          <p:cNvSpPr/>
          <p:nvPr/>
        </p:nvSpPr>
        <p:spPr>
          <a:xfrm>
            <a:off x="2304288" y="1627632"/>
            <a:ext cx="301752" cy="30175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9" name="faixa 1-5"/>
          <p:cNvSpPr/>
          <p:nvPr/>
        </p:nvSpPr>
        <p:spPr>
          <a:xfrm>
            <a:off x="2651760" y="1627632"/>
            <a:ext cx="301752" cy="30175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0" name="faixa 1-6"/>
          <p:cNvSpPr/>
          <p:nvPr/>
        </p:nvSpPr>
        <p:spPr>
          <a:xfrm>
            <a:off x="2999232" y="1627632"/>
            <a:ext cx="301752" cy="301752"/>
          </a:xfrm>
          <a:prstGeom prst="rect">
            <a:avLst/>
          </a:prstGeom>
          <a:solidFill>
            <a:schemeClr val="accent1">
              <a:alpha val="25000"/>
            </a:schemeClr>
          </a:solidFill>
          <a:ln/>
        </p:spPr>
      </p:sp>
      <p:sp>
        <p:nvSpPr>
          <p:cNvPr id="21" name="faixa 1-7"/>
          <p:cNvSpPr/>
          <p:nvPr/>
        </p:nvSpPr>
        <p:spPr>
          <a:xfrm>
            <a:off x="3346704" y="1627632"/>
            <a:ext cx="301752" cy="301752"/>
          </a:xfrm>
          <a:prstGeom prst="rect">
            <a:avLst/>
          </a:prstGeom>
          <a:solidFill>
            <a:schemeClr val="accent1">
              <a:alpha val="25000"/>
            </a:schemeClr>
          </a:solidFill>
          <a:ln/>
        </p:spPr>
      </p:sp>
      <p:sp>
        <p:nvSpPr>
          <p:cNvPr id="22" name="faixa 1-8"/>
          <p:cNvSpPr/>
          <p:nvPr/>
        </p:nvSpPr>
        <p:spPr>
          <a:xfrm>
            <a:off x="3694176" y="1627632"/>
            <a:ext cx="301752" cy="301752"/>
          </a:xfrm>
          <a:prstGeom prst="rect">
            <a:avLst/>
          </a:prstGeom>
          <a:solidFill>
            <a:schemeClr val="accent1">
              <a:alpha val="25000"/>
            </a:schemeClr>
          </a:solidFill>
          <a:ln/>
        </p:spPr>
      </p:sp>
      <p:sp>
        <p:nvSpPr>
          <p:cNvPr id="23" name="faixa 1-9"/>
          <p:cNvSpPr/>
          <p:nvPr/>
        </p:nvSpPr>
        <p:spPr>
          <a:xfrm>
            <a:off x="4041648" y="1627632"/>
            <a:ext cx="301752" cy="301752"/>
          </a:xfrm>
          <a:prstGeom prst="rect">
            <a:avLst/>
          </a:prstGeom>
          <a:solidFill>
            <a:schemeClr val="accent1">
              <a:alpha val="25000"/>
            </a:schemeClr>
          </a:solidFill>
          <a:ln/>
        </p:spPr>
      </p:sp>
      <p:sp>
        <p:nvSpPr>
          <p:cNvPr id="24" name="faixa 2-0"/>
          <p:cNvSpPr/>
          <p:nvPr/>
        </p:nvSpPr>
        <p:spPr>
          <a:xfrm>
            <a:off x="914400" y="1975104"/>
            <a:ext cx="301752" cy="301752"/>
          </a:xfrm>
          <a:prstGeom prst="rect">
            <a:avLst/>
          </a:prstGeom>
          <a:solidFill>
            <a:schemeClr val="accent2">
              <a:alpha val="25000"/>
            </a:schemeClr>
          </a:solidFill>
          <a:ln/>
        </p:spPr>
      </p:sp>
      <p:sp>
        <p:nvSpPr>
          <p:cNvPr id="25" name="faixa 2-1"/>
          <p:cNvSpPr/>
          <p:nvPr/>
        </p:nvSpPr>
        <p:spPr>
          <a:xfrm>
            <a:off x="1261872" y="1975104"/>
            <a:ext cx="301752" cy="301752"/>
          </a:xfrm>
          <a:prstGeom prst="rect">
            <a:avLst/>
          </a:prstGeom>
          <a:solidFill>
            <a:schemeClr val="accent2">
              <a:alpha val="25000"/>
            </a:schemeClr>
          </a:solidFill>
          <a:ln/>
        </p:spPr>
      </p:sp>
      <p:sp>
        <p:nvSpPr>
          <p:cNvPr id="26" name="faixa 2-2"/>
          <p:cNvSpPr/>
          <p:nvPr/>
        </p:nvSpPr>
        <p:spPr>
          <a:xfrm>
            <a:off x="1609344" y="1975104"/>
            <a:ext cx="301752" cy="301752"/>
          </a:xfrm>
          <a:prstGeom prst="rect">
            <a:avLst/>
          </a:prstGeom>
          <a:solidFill>
            <a:schemeClr val="accent2">
              <a:alpha val="25000"/>
            </a:schemeClr>
          </a:solidFill>
          <a:ln/>
        </p:spPr>
      </p:sp>
      <p:sp>
        <p:nvSpPr>
          <p:cNvPr id="27" name="faixa 2-3"/>
          <p:cNvSpPr/>
          <p:nvPr/>
        </p:nvSpPr>
        <p:spPr>
          <a:xfrm>
            <a:off x="1956816" y="1975104"/>
            <a:ext cx="301752" cy="30175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8" name="faixa 2-4"/>
          <p:cNvSpPr/>
          <p:nvPr/>
        </p:nvSpPr>
        <p:spPr>
          <a:xfrm>
            <a:off x="2304288" y="1975104"/>
            <a:ext cx="301752" cy="30175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9" name="faixa 2-5"/>
          <p:cNvSpPr/>
          <p:nvPr/>
        </p:nvSpPr>
        <p:spPr>
          <a:xfrm>
            <a:off x="2651760" y="1975104"/>
            <a:ext cx="301752" cy="301752"/>
          </a:xfrm>
          <a:prstGeom prst="rect">
            <a:avLst/>
          </a:prstGeom>
          <a:solidFill>
            <a:schemeClr val="accent2">
              <a:alpha val="25000"/>
            </a:schemeClr>
          </a:solidFill>
          <a:ln/>
        </p:spPr>
      </p:sp>
      <p:sp>
        <p:nvSpPr>
          <p:cNvPr id="30" name="faixa 2-6"/>
          <p:cNvSpPr/>
          <p:nvPr/>
        </p:nvSpPr>
        <p:spPr>
          <a:xfrm>
            <a:off x="2999232" y="1975104"/>
            <a:ext cx="301752" cy="301752"/>
          </a:xfrm>
          <a:prstGeom prst="rect">
            <a:avLst/>
          </a:prstGeom>
          <a:solidFill>
            <a:schemeClr val="accent2">
              <a:alpha val="25000"/>
            </a:schemeClr>
          </a:solidFill>
          <a:ln/>
        </p:spPr>
      </p:sp>
      <p:sp>
        <p:nvSpPr>
          <p:cNvPr id="31" name="faixa 2-7"/>
          <p:cNvSpPr/>
          <p:nvPr/>
        </p:nvSpPr>
        <p:spPr>
          <a:xfrm>
            <a:off x="3346704" y="1975104"/>
            <a:ext cx="301752" cy="30175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2" name="faixa 2-8"/>
          <p:cNvSpPr/>
          <p:nvPr/>
        </p:nvSpPr>
        <p:spPr>
          <a:xfrm>
            <a:off x="3694176" y="1975104"/>
            <a:ext cx="301752" cy="301752"/>
          </a:xfrm>
          <a:prstGeom prst="rect">
            <a:avLst/>
          </a:prstGeom>
          <a:solidFill>
            <a:schemeClr val="accent2">
              <a:alpha val="25000"/>
            </a:schemeClr>
          </a:solidFill>
          <a:ln/>
        </p:spPr>
      </p:sp>
      <p:sp>
        <p:nvSpPr>
          <p:cNvPr id="33" name="faixa 2-9"/>
          <p:cNvSpPr/>
          <p:nvPr/>
        </p:nvSpPr>
        <p:spPr>
          <a:xfrm>
            <a:off x="4041648" y="1975104"/>
            <a:ext cx="301752" cy="30175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4" name="faixa 3-0"/>
          <p:cNvSpPr/>
          <p:nvPr/>
        </p:nvSpPr>
        <p:spPr>
          <a:xfrm>
            <a:off x="914400" y="2322576"/>
            <a:ext cx="301752" cy="301752"/>
          </a:xfrm>
          <a:prstGeom prst="rect">
            <a:avLst/>
          </a:prstGeom>
          <a:solidFill>
            <a:schemeClr val="accent2">
              <a:alpha val="25000"/>
            </a:schemeClr>
          </a:solidFill>
          <a:ln/>
        </p:spPr>
      </p:sp>
      <p:sp>
        <p:nvSpPr>
          <p:cNvPr id="35" name="faixa 3-1"/>
          <p:cNvSpPr/>
          <p:nvPr/>
        </p:nvSpPr>
        <p:spPr>
          <a:xfrm>
            <a:off x="1261872" y="2322576"/>
            <a:ext cx="301752" cy="30175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6" name="faixa 3-2"/>
          <p:cNvSpPr/>
          <p:nvPr/>
        </p:nvSpPr>
        <p:spPr>
          <a:xfrm>
            <a:off x="1609344" y="2322576"/>
            <a:ext cx="301752" cy="301752"/>
          </a:xfrm>
          <a:prstGeom prst="rect">
            <a:avLst/>
          </a:prstGeom>
          <a:solidFill>
            <a:schemeClr val="accent2">
              <a:alpha val="25000"/>
            </a:schemeClr>
          </a:solidFill>
          <a:ln/>
        </p:spPr>
      </p:sp>
      <p:sp>
        <p:nvSpPr>
          <p:cNvPr id="37" name="faixa 3-3"/>
          <p:cNvSpPr/>
          <p:nvPr/>
        </p:nvSpPr>
        <p:spPr>
          <a:xfrm>
            <a:off x="1956816" y="2322576"/>
            <a:ext cx="301752" cy="301752"/>
          </a:xfrm>
          <a:prstGeom prst="rect">
            <a:avLst/>
          </a:prstGeom>
          <a:solidFill>
            <a:schemeClr val="accent2">
              <a:alpha val="25000"/>
            </a:schemeClr>
          </a:solidFill>
          <a:ln/>
        </p:spPr>
      </p:sp>
      <p:sp>
        <p:nvSpPr>
          <p:cNvPr id="38" name="faixa 3-4"/>
          <p:cNvSpPr/>
          <p:nvPr/>
        </p:nvSpPr>
        <p:spPr>
          <a:xfrm>
            <a:off x="2304288" y="2322576"/>
            <a:ext cx="301752" cy="301752"/>
          </a:xfrm>
          <a:prstGeom prst="rect">
            <a:avLst/>
          </a:prstGeom>
          <a:solidFill>
            <a:schemeClr val="accent2">
              <a:alpha val="25000"/>
            </a:schemeClr>
          </a:solidFill>
          <a:ln/>
        </p:spPr>
      </p:sp>
      <p:sp>
        <p:nvSpPr>
          <p:cNvPr id="39" name="faixa 3-5"/>
          <p:cNvSpPr/>
          <p:nvPr/>
        </p:nvSpPr>
        <p:spPr>
          <a:xfrm>
            <a:off x="2651760" y="2322576"/>
            <a:ext cx="301752" cy="301752"/>
          </a:xfrm>
          <a:prstGeom prst="rect">
            <a:avLst/>
          </a:prstGeom>
          <a:solidFill>
            <a:schemeClr val="accent2">
              <a:alpha val="25000"/>
            </a:schemeClr>
          </a:solidFill>
          <a:ln/>
        </p:spPr>
      </p:sp>
      <p:sp>
        <p:nvSpPr>
          <p:cNvPr id="40" name="faixa 3-6"/>
          <p:cNvSpPr/>
          <p:nvPr/>
        </p:nvSpPr>
        <p:spPr>
          <a:xfrm>
            <a:off x="2999232" y="2322576"/>
            <a:ext cx="301752" cy="30175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1" name="faixa 3-7"/>
          <p:cNvSpPr/>
          <p:nvPr/>
        </p:nvSpPr>
        <p:spPr>
          <a:xfrm>
            <a:off x="3346704" y="2322576"/>
            <a:ext cx="301752" cy="30175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2" name="faixa 3-8"/>
          <p:cNvSpPr/>
          <p:nvPr/>
        </p:nvSpPr>
        <p:spPr>
          <a:xfrm>
            <a:off x="3694176" y="2322576"/>
            <a:ext cx="301752" cy="301752"/>
          </a:xfrm>
          <a:prstGeom prst="rect">
            <a:avLst/>
          </a:prstGeom>
          <a:solidFill>
            <a:schemeClr val="accent2">
              <a:alpha val="25000"/>
            </a:schemeClr>
          </a:solidFill>
          <a:ln/>
        </p:spPr>
      </p:sp>
      <p:sp>
        <p:nvSpPr>
          <p:cNvPr id="43" name="faixa 3-9"/>
          <p:cNvSpPr/>
          <p:nvPr/>
        </p:nvSpPr>
        <p:spPr>
          <a:xfrm>
            <a:off x="4041648" y="2322576"/>
            <a:ext cx="301752" cy="301752"/>
          </a:xfrm>
          <a:prstGeom prst="rect">
            <a:avLst/>
          </a:prstGeom>
          <a:solidFill>
            <a:schemeClr val="accent2">
              <a:alpha val="25000"/>
            </a:schemeClr>
          </a:solidFill>
          <a:ln/>
        </p:spPr>
      </p:sp>
      <p:sp>
        <p:nvSpPr>
          <p:cNvPr id="44" name="faixa 4-0"/>
          <p:cNvSpPr/>
          <p:nvPr/>
        </p:nvSpPr>
        <p:spPr>
          <a:xfrm>
            <a:off x="914400" y="2670048"/>
            <a:ext cx="301752" cy="30175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45" name="faixa 4-1"/>
          <p:cNvSpPr/>
          <p:nvPr/>
        </p:nvSpPr>
        <p:spPr>
          <a:xfrm>
            <a:off x="1261872" y="2670048"/>
            <a:ext cx="301752" cy="30175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46" name="faixa 4-2"/>
          <p:cNvSpPr/>
          <p:nvPr/>
        </p:nvSpPr>
        <p:spPr>
          <a:xfrm>
            <a:off x="1609344" y="2670048"/>
            <a:ext cx="301752" cy="301752"/>
          </a:xfrm>
          <a:prstGeom prst="rect">
            <a:avLst/>
          </a:prstGeom>
          <a:solidFill>
            <a:schemeClr val="accent3">
              <a:alpha val="25000"/>
            </a:schemeClr>
          </a:solidFill>
          <a:ln/>
        </p:spPr>
      </p:sp>
      <p:sp>
        <p:nvSpPr>
          <p:cNvPr id="47" name="faixa 4-3"/>
          <p:cNvSpPr/>
          <p:nvPr/>
        </p:nvSpPr>
        <p:spPr>
          <a:xfrm>
            <a:off x="1956816" y="2670048"/>
            <a:ext cx="301752" cy="301752"/>
          </a:xfrm>
          <a:prstGeom prst="rect">
            <a:avLst/>
          </a:prstGeom>
          <a:solidFill>
            <a:schemeClr val="accent3">
              <a:alpha val="25000"/>
            </a:schemeClr>
          </a:solidFill>
          <a:ln/>
        </p:spPr>
      </p:sp>
      <p:sp>
        <p:nvSpPr>
          <p:cNvPr id="48" name="faixa 4-4"/>
          <p:cNvSpPr/>
          <p:nvPr/>
        </p:nvSpPr>
        <p:spPr>
          <a:xfrm>
            <a:off x="2304288" y="2670048"/>
            <a:ext cx="301752" cy="301752"/>
          </a:xfrm>
          <a:prstGeom prst="rect">
            <a:avLst/>
          </a:prstGeom>
          <a:solidFill>
            <a:schemeClr val="accent3">
              <a:alpha val="25000"/>
            </a:schemeClr>
          </a:solidFill>
          <a:ln/>
        </p:spPr>
      </p:sp>
      <p:sp>
        <p:nvSpPr>
          <p:cNvPr id="49" name="faixa 4-5"/>
          <p:cNvSpPr/>
          <p:nvPr/>
        </p:nvSpPr>
        <p:spPr>
          <a:xfrm>
            <a:off x="2651760" y="2670048"/>
            <a:ext cx="301752" cy="30175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0" name="faixa 4-6"/>
          <p:cNvSpPr/>
          <p:nvPr/>
        </p:nvSpPr>
        <p:spPr>
          <a:xfrm>
            <a:off x="2999232" y="2670048"/>
            <a:ext cx="301752" cy="301752"/>
          </a:xfrm>
          <a:prstGeom prst="rect">
            <a:avLst/>
          </a:prstGeom>
          <a:solidFill>
            <a:schemeClr val="accent3">
              <a:alpha val="25000"/>
            </a:schemeClr>
          </a:solidFill>
          <a:ln/>
        </p:spPr>
      </p:sp>
      <p:sp>
        <p:nvSpPr>
          <p:cNvPr id="51" name="faixa 4-7"/>
          <p:cNvSpPr/>
          <p:nvPr/>
        </p:nvSpPr>
        <p:spPr>
          <a:xfrm>
            <a:off x="3346704" y="2670048"/>
            <a:ext cx="301752" cy="301752"/>
          </a:xfrm>
          <a:prstGeom prst="rect">
            <a:avLst/>
          </a:prstGeom>
          <a:solidFill>
            <a:schemeClr val="accent3">
              <a:alpha val="25000"/>
            </a:schemeClr>
          </a:solidFill>
          <a:ln/>
        </p:spPr>
      </p:sp>
      <p:sp>
        <p:nvSpPr>
          <p:cNvPr id="52" name="faixa 4-8"/>
          <p:cNvSpPr/>
          <p:nvPr/>
        </p:nvSpPr>
        <p:spPr>
          <a:xfrm>
            <a:off x="3694176" y="2670048"/>
            <a:ext cx="301752" cy="301752"/>
          </a:xfrm>
          <a:prstGeom prst="rect">
            <a:avLst/>
          </a:prstGeom>
          <a:solidFill>
            <a:schemeClr val="accent3">
              <a:alpha val="25000"/>
            </a:schemeClr>
          </a:solidFill>
          <a:ln/>
        </p:spPr>
      </p:sp>
      <p:sp>
        <p:nvSpPr>
          <p:cNvPr id="53" name="faixa 4-9"/>
          <p:cNvSpPr/>
          <p:nvPr/>
        </p:nvSpPr>
        <p:spPr>
          <a:xfrm>
            <a:off x="4041648" y="2670048"/>
            <a:ext cx="301752" cy="30175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4" name="faixa 5-0"/>
          <p:cNvSpPr/>
          <p:nvPr/>
        </p:nvSpPr>
        <p:spPr>
          <a:xfrm>
            <a:off x="914400" y="3017520"/>
            <a:ext cx="301752" cy="301752"/>
          </a:xfrm>
          <a:prstGeom prst="rect">
            <a:avLst/>
          </a:prstGeom>
          <a:solidFill>
            <a:schemeClr val="accent3">
              <a:alpha val="25000"/>
            </a:schemeClr>
          </a:solidFill>
          <a:ln/>
        </p:spPr>
      </p:sp>
      <p:sp>
        <p:nvSpPr>
          <p:cNvPr id="55" name="faixa 5-1"/>
          <p:cNvSpPr/>
          <p:nvPr/>
        </p:nvSpPr>
        <p:spPr>
          <a:xfrm>
            <a:off x="1261872" y="3017520"/>
            <a:ext cx="301752" cy="301752"/>
          </a:xfrm>
          <a:prstGeom prst="rect">
            <a:avLst/>
          </a:prstGeom>
          <a:solidFill>
            <a:schemeClr val="accent3">
              <a:alpha val="25000"/>
            </a:schemeClr>
          </a:solidFill>
          <a:ln/>
        </p:spPr>
      </p:sp>
      <p:sp>
        <p:nvSpPr>
          <p:cNvPr id="56" name="faixa 5-2"/>
          <p:cNvSpPr/>
          <p:nvPr/>
        </p:nvSpPr>
        <p:spPr>
          <a:xfrm>
            <a:off x="1609344" y="3017520"/>
            <a:ext cx="301752" cy="30175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7" name="faixa 5-3"/>
          <p:cNvSpPr/>
          <p:nvPr/>
        </p:nvSpPr>
        <p:spPr>
          <a:xfrm>
            <a:off x="1956816" y="3017520"/>
            <a:ext cx="301752" cy="30175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8" name="faixa 5-4"/>
          <p:cNvSpPr/>
          <p:nvPr/>
        </p:nvSpPr>
        <p:spPr>
          <a:xfrm>
            <a:off x="2304288" y="3017520"/>
            <a:ext cx="301752" cy="301752"/>
          </a:xfrm>
          <a:prstGeom prst="rect">
            <a:avLst/>
          </a:prstGeom>
          <a:solidFill>
            <a:schemeClr val="accent3">
              <a:alpha val="25000"/>
            </a:schemeClr>
          </a:solidFill>
          <a:ln/>
        </p:spPr>
      </p:sp>
      <p:sp>
        <p:nvSpPr>
          <p:cNvPr id="59" name="faixa 5-5"/>
          <p:cNvSpPr/>
          <p:nvPr/>
        </p:nvSpPr>
        <p:spPr>
          <a:xfrm>
            <a:off x="2651760" y="3017520"/>
            <a:ext cx="301752" cy="30175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60" name="faixa 5-6"/>
          <p:cNvSpPr/>
          <p:nvPr/>
        </p:nvSpPr>
        <p:spPr>
          <a:xfrm>
            <a:off x="2999232" y="3017520"/>
            <a:ext cx="301752" cy="30175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61" name="faixa 5-7"/>
          <p:cNvSpPr/>
          <p:nvPr/>
        </p:nvSpPr>
        <p:spPr>
          <a:xfrm>
            <a:off x="3346704" y="3017520"/>
            <a:ext cx="301752" cy="301752"/>
          </a:xfrm>
          <a:prstGeom prst="rect">
            <a:avLst/>
          </a:prstGeom>
          <a:solidFill>
            <a:schemeClr val="accent3">
              <a:alpha val="25000"/>
            </a:schemeClr>
          </a:solidFill>
          <a:ln/>
        </p:spPr>
      </p:sp>
      <p:sp>
        <p:nvSpPr>
          <p:cNvPr id="62" name="faixa 5-8"/>
          <p:cNvSpPr/>
          <p:nvPr/>
        </p:nvSpPr>
        <p:spPr>
          <a:xfrm>
            <a:off x="3694176" y="3017520"/>
            <a:ext cx="301752" cy="30175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63" name="faixa 5-9"/>
          <p:cNvSpPr/>
          <p:nvPr/>
        </p:nvSpPr>
        <p:spPr>
          <a:xfrm>
            <a:off x="4041648" y="3017520"/>
            <a:ext cx="301752" cy="301752"/>
          </a:xfrm>
          <a:prstGeom prst="rect">
            <a:avLst/>
          </a:prstGeom>
          <a:solidFill>
            <a:schemeClr val="accent3">
              <a:alpha val="25000"/>
            </a:schemeClr>
          </a:solidFill>
          <a:ln/>
        </p:spPr>
      </p:sp>
      <p:sp>
        <p:nvSpPr>
          <p:cNvPr id="64" name="faixa 6-0"/>
          <p:cNvSpPr/>
          <p:nvPr/>
        </p:nvSpPr>
        <p:spPr>
          <a:xfrm>
            <a:off x="914400" y="3364992"/>
            <a:ext cx="301752" cy="301752"/>
          </a:xfrm>
          <a:prstGeom prst="rect">
            <a:avLst/>
          </a:prstGeom>
          <a:solidFill>
            <a:schemeClr val="accent6">
              <a:alpha val="25000"/>
            </a:schemeClr>
          </a:solidFill>
          <a:ln/>
        </p:spPr>
      </p:sp>
      <p:sp>
        <p:nvSpPr>
          <p:cNvPr id="65" name="faixa 6-1"/>
          <p:cNvSpPr/>
          <p:nvPr/>
        </p:nvSpPr>
        <p:spPr>
          <a:xfrm>
            <a:off x="1261872" y="3364992"/>
            <a:ext cx="301752" cy="301752"/>
          </a:xfrm>
          <a:prstGeom prst="rect">
            <a:avLst/>
          </a:prstGeom>
          <a:solidFill>
            <a:schemeClr val="accent6">
              <a:alpha val="25000"/>
            </a:schemeClr>
          </a:solidFill>
          <a:ln/>
        </p:spPr>
      </p:sp>
      <p:sp>
        <p:nvSpPr>
          <p:cNvPr id="66" name="faixa 6-2"/>
          <p:cNvSpPr/>
          <p:nvPr/>
        </p:nvSpPr>
        <p:spPr>
          <a:xfrm>
            <a:off x="1609344" y="3364992"/>
            <a:ext cx="301752" cy="301752"/>
          </a:xfrm>
          <a:prstGeom prst="rect">
            <a:avLst/>
          </a:prstGeom>
          <a:solidFill>
            <a:schemeClr val="accent6">
              <a:alpha val="25000"/>
            </a:schemeClr>
          </a:solidFill>
          <a:ln/>
        </p:spPr>
      </p:sp>
      <p:sp>
        <p:nvSpPr>
          <p:cNvPr id="67" name="faixa 6-3"/>
          <p:cNvSpPr/>
          <p:nvPr/>
        </p:nvSpPr>
        <p:spPr>
          <a:xfrm>
            <a:off x="1956816" y="3364992"/>
            <a:ext cx="301752" cy="301752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68" name="faixa 6-4"/>
          <p:cNvSpPr/>
          <p:nvPr/>
        </p:nvSpPr>
        <p:spPr>
          <a:xfrm>
            <a:off x="2304288" y="3364992"/>
            <a:ext cx="301752" cy="301752"/>
          </a:xfrm>
          <a:prstGeom prst="rect">
            <a:avLst/>
          </a:prstGeom>
          <a:solidFill>
            <a:schemeClr val="accent6">
              <a:alpha val="25000"/>
            </a:schemeClr>
          </a:solidFill>
          <a:ln/>
        </p:spPr>
      </p:sp>
      <p:sp>
        <p:nvSpPr>
          <p:cNvPr id="69" name="faixa 6-5"/>
          <p:cNvSpPr/>
          <p:nvPr/>
        </p:nvSpPr>
        <p:spPr>
          <a:xfrm>
            <a:off x="2651760" y="3364992"/>
            <a:ext cx="301752" cy="301752"/>
          </a:xfrm>
          <a:prstGeom prst="rect">
            <a:avLst/>
          </a:prstGeom>
          <a:solidFill>
            <a:schemeClr val="accent6">
              <a:alpha val="25000"/>
            </a:schemeClr>
          </a:solidFill>
          <a:ln/>
        </p:spPr>
      </p:sp>
      <p:sp>
        <p:nvSpPr>
          <p:cNvPr id="70" name="faixa 6-6"/>
          <p:cNvSpPr/>
          <p:nvPr/>
        </p:nvSpPr>
        <p:spPr>
          <a:xfrm>
            <a:off x="2999232" y="3364992"/>
            <a:ext cx="301752" cy="301752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71" name="faixa 6-7"/>
          <p:cNvSpPr/>
          <p:nvPr/>
        </p:nvSpPr>
        <p:spPr>
          <a:xfrm>
            <a:off x="3346704" y="3364992"/>
            <a:ext cx="301752" cy="301752"/>
          </a:xfrm>
          <a:prstGeom prst="rect">
            <a:avLst/>
          </a:prstGeom>
          <a:solidFill>
            <a:schemeClr val="accent6">
              <a:alpha val="25000"/>
            </a:schemeClr>
          </a:solidFill>
          <a:ln/>
        </p:spPr>
      </p:sp>
      <p:sp>
        <p:nvSpPr>
          <p:cNvPr id="72" name="faixa 6-8"/>
          <p:cNvSpPr/>
          <p:nvPr/>
        </p:nvSpPr>
        <p:spPr>
          <a:xfrm>
            <a:off x="3694176" y="3364992"/>
            <a:ext cx="301752" cy="301752"/>
          </a:xfrm>
          <a:prstGeom prst="rect">
            <a:avLst/>
          </a:prstGeom>
          <a:solidFill>
            <a:schemeClr val="accent6">
              <a:alpha val="25000"/>
            </a:schemeClr>
          </a:solidFill>
          <a:ln/>
        </p:spPr>
      </p:sp>
      <p:sp>
        <p:nvSpPr>
          <p:cNvPr id="73" name="faixa 6-9"/>
          <p:cNvSpPr/>
          <p:nvPr/>
        </p:nvSpPr>
        <p:spPr>
          <a:xfrm>
            <a:off x="4041648" y="3364992"/>
            <a:ext cx="301752" cy="301752"/>
          </a:xfrm>
          <a:prstGeom prst="rect">
            <a:avLst/>
          </a:prstGeom>
          <a:solidFill>
            <a:schemeClr val="accent6">
              <a:alpha val="25000"/>
            </a:schemeClr>
          </a:solidFill>
          <a:ln/>
        </p:spPr>
      </p:sp>
      <p:sp>
        <p:nvSpPr>
          <p:cNvPr id="74" name="faixa 7-0"/>
          <p:cNvSpPr/>
          <p:nvPr/>
        </p:nvSpPr>
        <p:spPr>
          <a:xfrm>
            <a:off x="914400" y="3712464"/>
            <a:ext cx="301752" cy="301752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75" name="faixa 7-1"/>
          <p:cNvSpPr/>
          <p:nvPr/>
        </p:nvSpPr>
        <p:spPr>
          <a:xfrm>
            <a:off x="1261872" y="3712464"/>
            <a:ext cx="301752" cy="301752"/>
          </a:xfrm>
          <a:prstGeom prst="rect">
            <a:avLst/>
          </a:prstGeom>
          <a:solidFill>
            <a:schemeClr val="accent6">
              <a:alpha val="25000"/>
            </a:schemeClr>
          </a:solidFill>
          <a:ln/>
        </p:spPr>
      </p:sp>
      <p:sp>
        <p:nvSpPr>
          <p:cNvPr id="76" name="faixa 7-2"/>
          <p:cNvSpPr/>
          <p:nvPr/>
        </p:nvSpPr>
        <p:spPr>
          <a:xfrm>
            <a:off x="1609344" y="3712464"/>
            <a:ext cx="301752" cy="301752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77" name="faixa 7-3"/>
          <p:cNvSpPr/>
          <p:nvPr/>
        </p:nvSpPr>
        <p:spPr>
          <a:xfrm>
            <a:off x="1956816" y="3712464"/>
            <a:ext cx="301752" cy="301752"/>
          </a:xfrm>
          <a:prstGeom prst="rect">
            <a:avLst/>
          </a:prstGeom>
          <a:solidFill>
            <a:schemeClr val="accent6">
              <a:alpha val="25000"/>
            </a:schemeClr>
          </a:solidFill>
          <a:ln/>
        </p:spPr>
      </p:sp>
      <p:sp>
        <p:nvSpPr>
          <p:cNvPr id="78" name="faixa 7-4"/>
          <p:cNvSpPr/>
          <p:nvPr/>
        </p:nvSpPr>
        <p:spPr>
          <a:xfrm>
            <a:off x="2304288" y="3712464"/>
            <a:ext cx="301752" cy="301752"/>
          </a:xfrm>
          <a:prstGeom prst="rect">
            <a:avLst/>
          </a:prstGeom>
          <a:solidFill>
            <a:schemeClr val="accent6">
              <a:alpha val="25000"/>
            </a:schemeClr>
          </a:solidFill>
          <a:ln/>
        </p:spPr>
      </p:sp>
      <p:sp>
        <p:nvSpPr>
          <p:cNvPr id="79" name="faixa 7-5"/>
          <p:cNvSpPr/>
          <p:nvPr/>
        </p:nvSpPr>
        <p:spPr>
          <a:xfrm>
            <a:off x="2651760" y="3712464"/>
            <a:ext cx="301752" cy="301752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80" name="faixa 7-6"/>
          <p:cNvSpPr/>
          <p:nvPr/>
        </p:nvSpPr>
        <p:spPr>
          <a:xfrm>
            <a:off x="2999232" y="3712464"/>
            <a:ext cx="301752" cy="301752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81" name="faixa 7-7"/>
          <p:cNvSpPr/>
          <p:nvPr/>
        </p:nvSpPr>
        <p:spPr>
          <a:xfrm>
            <a:off x="3346704" y="3712464"/>
            <a:ext cx="301752" cy="301752"/>
          </a:xfrm>
          <a:prstGeom prst="rect">
            <a:avLst/>
          </a:prstGeom>
          <a:solidFill>
            <a:schemeClr val="accent6">
              <a:alpha val="25000"/>
            </a:schemeClr>
          </a:solidFill>
          <a:ln/>
        </p:spPr>
      </p:sp>
      <p:sp>
        <p:nvSpPr>
          <p:cNvPr id="82" name="faixa 7-8"/>
          <p:cNvSpPr/>
          <p:nvPr/>
        </p:nvSpPr>
        <p:spPr>
          <a:xfrm>
            <a:off x="3694176" y="3712464"/>
            <a:ext cx="301752" cy="301752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83" name="faixa 7-9"/>
          <p:cNvSpPr/>
          <p:nvPr/>
        </p:nvSpPr>
        <p:spPr>
          <a:xfrm>
            <a:off x="4041648" y="3712464"/>
            <a:ext cx="301752" cy="301752"/>
          </a:xfrm>
          <a:prstGeom prst="rect">
            <a:avLst/>
          </a:prstGeom>
          <a:solidFill>
            <a:schemeClr val="accent6">
              <a:alpha val="25000"/>
            </a:schemeClr>
          </a:solidFill>
          <a:ln/>
        </p:spPr>
      </p:sp>
      <p:sp>
        <p:nvSpPr>
          <p:cNvPr id="84" name="Rotulo T0"/>
          <p:cNvSpPr txBox="1"/>
          <p:nvPr/>
        </p:nvSpPr>
        <p:spPr>
          <a:xfrm>
            <a:off x="457200" y="1280160"/>
            <a:ext cx="4114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T0</a:t>
            </a:r>
            <a:endParaRPr lang="en-US" sz="1400" dirty="0"/>
          </a:p>
        </p:txBody>
      </p:sp>
      <p:sp>
        <p:nvSpPr>
          <p:cNvPr id="85" name="Rotulo T1"/>
          <p:cNvSpPr txBox="1"/>
          <p:nvPr/>
        </p:nvSpPr>
        <p:spPr>
          <a:xfrm>
            <a:off x="457200" y="1975104"/>
            <a:ext cx="4114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T1</a:t>
            </a:r>
            <a:endParaRPr lang="en-US" sz="1400" dirty="0"/>
          </a:p>
        </p:txBody>
      </p:sp>
      <p:sp>
        <p:nvSpPr>
          <p:cNvPr id="86" name="Rotulo T2"/>
          <p:cNvSpPr txBox="1"/>
          <p:nvPr/>
        </p:nvSpPr>
        <p:spPr>
          <a:xfrm>
            <a:off x="457200" y="2670048"/>
            <a:ext cx="4114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T2</a:t>
            </a:r>
            <a:endParaRPr lang="en-US" sz="1400" dirty="0"/>
          </a:p>
        </p:txBody>
      </p:sp>
      <p:sp>
        <p:nvSpPr>
          <p:cNvPr id="87" name="Rotulo T3"/>
          <p:cNvSpPr txBox="1"/>
          <p:nvPr/>
        </p:nvSpPr>
        <p:spPr>
          <a:xfrm>
            <a:off x="457200" y="3364992"/>
            <a:ext cx="4114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T3</a:t>
            </a:r>
            <a:endParaRPr lang="en-US" sz="1400" dirty="0"/>
          </a:p>
        </p:txBody>
      </p:sp>
      <p:sp>
        <p:nvSpPr>
          <p:cNvPr id="88" name="Bullets divisao"/>
          <p:cNvSpPr txBox="1"/>
          <p:nvPr/>
        </p:nvSpPr>
        <p:spPr>
          <a:xfrm>
            <a:off x="4846320" y="128016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Uma faixa contígua de linhas por thread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Tamanhos diferem em no máximo uma linha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Número de threads configurável (no máximo uma por linha)</a:t>
            </a:r>
            <a:endParaRPr lang="en-US" sz="1500" dirty="0"/>
          </a:p>
        </p:txBody>
      </p:sp>
      <p:sp>
        <p:nvSpPr>
          <p:cNvPr id="89" name="Fase 1"/>
          <p:cNvSpPr/>
          <p:nvPr/>
        </p:nvSpPr>
        <p:spPr>
          <a:xfrm>
            <a:off x="4846320" y="3337560"/>
            <a:ext cx="178308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/>
        </p:spPr>
      </p:sp>
      <p:sp>
        <p:nvSpPr>
          <p:cNvPr id="90" name="Fase 2"/>
          <p:cNvSpPr/>
          <p:nvPr/>
        </p:nvSpPr>
        <p:spPr>
          <a:xfrm>
            <a:off x="6903720" y="3337560"/>
            <a:ext cx="1783080" cy="9144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/>
        </p:spPr>
      </p:sp>
      <p:sp>
        <p:nvSpPr>
          <p:cNvPr id="91" name="Fase 1 txt"/>
          <p:cNvSpPr txBox="1"/>
          <p:nvPr/>
        </p:nvSpPr>
        <p:spPr>
          <a:xfrm>
            <a:off x="4846320" y="33375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 · Identificação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local (paralela)</a:t>
            </a:r>
            <a:endParaRPr lang="en-US" sz="1400" dirty="0"/>
          </a:p>
        </p:txBody>
      </p:sp>
      <p:sp>
        <p:nvSpPr>
          <p:cNvPr id="92" name="Fase 2 txt"/>
          <p:cNvSpPr txBox="1"/>
          <p:nvPr/>
        </p:nvSpPr>
        <p:spPr>
          <a:xfrm>
            <a:off x="6903720" y="33375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 · Consolidação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(thread principal)</a:t>
            </a:r>
            <a:endParaRPr lang="en-US" sz="1400" dirty="0"/>
          </a:p>
        </p:txBody>
      </p:sp>
      <p:sp>
        <p:nvSpPr>
          <p:cNvPr id="93" name="Seta fases"/>
          <p:cNvSpPr txBox="1"/>
          <p:nvPr/>
        </p:nvSpPr>
        <p:spPr>
          <a:xfrm>
            <a:off x="6583680" y="333756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→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ao"/>
          <p:cNvSpPr txBox="1"/>
          <p:nvPr/>
        </p:nvSpPr>
        <p:spPr>
          <a:xfrm>
            <a:off x="457200" y="1097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SOLUÇÃO PARALELA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Quando a divisão não é exata</a:t>
            </a:r>
            <a:endParaRPr lang="en-US" sz="3000" dirty="0"/>
          </a:p>
        </p:txBody>
      </p:sp>
      <p:sp>
        <p:nvSpPr>
          <p:cNvPr id="4" name="resto 0-0"/>
          <p:cNvSpPr/>
          <p:nvPr/>
        </p:nvSpPr>
        <p:spPr>
          <a:xfrm>
            <a:off x="822960" y="1371600"/>
            <a:ext cx="338328" cy="338328"/>
          </a:xfrm>
          <a:prstGeom prst="rect">
            <a:avLst/>
          </a:prstGeom>
          <a:solidFill>
            <a:schemeClr val="accent1">
              <a:alpha val="70000"/>
            </a:schemeClr>
          </a:solidFill>
          <a:ln/>
        </p:spPr>
      </p:sp>
      <p:sp>
        <p:nvSpPr>
          <p:cNvPr id="5" name="resto 0-1"/>
          <p:cNvSpPr/>
          <p:nvPr/>
        </p:nvSpPr>
        <p:spPr>
          <a:xfrm>
            <a:off x="1207008" y="1371600"/>
            <a:ext cx="338328" cy="338328"/>
          </a:xfrm>
          <a:prstGeom prst="rect">
            <a:avLst/>
          </a:prstGeom>
          <a:solidFill>
            <a:schemeClr val="accent1">
              <a:alpha val="70000"/>
            </a:schemeClr>
          </a:solidFill>
          <a:ln/>
        </p:spPr>
      </p:sp>
      <p:sp>
        <p:nvSpPr>
          <p:cNvPr id="6" name="resto 0-2"/>
          <p:cNvSpPr/>
          <p:nvPr/>
        </p:nvSpPr>
        <p:spPr>
          <a:xfrm>
            <a:off x="1591056" y="1371600"/>
            <a:ext cx="338328" cy="338328"/>
          </a:xfrm>
          <a:prstGeom prst="rect">
            <a:avLst/>
          </a:prstGeom>
          <a:solidFill>
            <a:schemeClr val="accent1">
              <a:alpha val="70000"/>
            </a:schemeClr>
          </a:solidFill>
          <a:ln/>
        </p:spPr>
      </p:sp>
      <p:sp>
        <p:nvSpPr>
          <p:cNvPr id="7" name="resto 0-3"/>
          <p:cNvSpPr/>
          <p:nvPr/>
        </p:nvSpPr>
        <p:spPr>
          <a:xfrm>
            <a:off x="1975104" y="1371600"/>
            <a:ext cx="338328" cy="338328"/>
          </a:xfrm>
          <a:prstGeom prst="rect">
            <a:avLst/>
          </a:prstGeom>
          <a:solidFill>
            <a:schemeClr val="accent1">
              <a:alpha val="70000"/>
            </a:schemeClr>
          </a:solidFill>
          <a:ln/>
        </p:spPr>
      </p:sp>
      <p:sp>
        <p:nvSpPr>
          <p:cNvPr id="8" name="resto 0-4"/>
          <p:cNvSpPr/>
          <p:nvPr/>
        </p:nvSpPr>
        <p:spPr>
          <a:xfrm>
            <a:off x="2359152" y="1371600"/>
            <a:ext cx="338328" cy="338328"/>
          </a:xfrm>
          <a:prstGeom prst="rect">
            <a:avLst/>
          </a:prstGeom>
          <a:solidFill>
            <a:schemeClr val="accent1">
              <a:alpha val="70000"/>
            </a:schemeClr>
          </a:solidFill>
          <a:ln/>
        </p:spPr>
      </p:sp>
      <p:sp>
        <p:nvSpPr>
          <p:cNvPr id="9" name="resto 0-5"/>
          <p:cNvSpPr/>
          <p:nvPr/>
        </p:nvSpPr>
        <p:spPr>
          <a:xfrm>
            <a:off x="2743200" y="1371600"/>
            <a:ext cx="338328" cy="338328"/>
          </a:xfrm>
          <a:prstGeom prst="rect">
            <a:avLst/>
          </a:prstGeom>
          <a:solidFill>
            <a:schemeClr val="accent1">
              <a:alpha val="70000"/>
            </a:schemeClr>
          </a:solidFill>
          <a:ln/>
        </p:spPr>
      </p:sp>
      <p:sp>
        <p:nvSpPr>
          <p:cNvPr id="10" name="resto 1-0"/>
          <p:cNvSpPr/>
          <p:nvPr/>
        </p:nvSpPr>
        <p:spPr>
          <a:xfrm>
            <a:off x="822960" y="1755648"/>
            <a:ext cx="338328" cy="338328"/>
          </a:xfrm>
          <a:prstGeom prst="rect">
            <a:avLst/>
          </a:prstGeom>
          <a:solidFill>
            <a:schemeClr val="accent1">
              <a:alpha val="70000"/>
            </a:schemeClr>
          </a:solidFill>
          <a:ln/>
        </p:spPr>
      </p:sp>
      <p:sp>
        <p:nvSpPr>
          <p:cNvPr id="11" name="resto 1-1"/>
          <p:cNvSpPr/>
          <p:nvPr/>
        </p:nvSpPr>
        <p:spPr>
          <a:xfrm>
            <a:off x="1207008" y="1755648"/>
            <a:ext cx="338328" cy="338328"/>
          </a:xfrm>
          <a:prstGeom prst="rect">
            <a:avLst/>
          </a:prstGeom>
          <a:solidFill>
            <a:schemeClr val="accent1">
              <a:alpha val="70000"/>
            </a:schemeClr>
          </a:solidFill>
          <a:ln/>
        </p:spPr>
      </p:sp>
      <p:sp>
        <p:nvSpPr>
          <p:cNvPr id="12" name="resto 1-2"/>
          <p:cNvSpPr/>
          <p:nvPr/>
        </p:nvSpPr>
        <p:spPr>
          <a:xfrm>
            <a:off x="1591056" y="1755648"/>
            <a:ext cx="338328" cy="338328"/>
          </a:xfrm>
          <a:prstGeom prst="rect">
            <a:avLst/>
          </a:prstGeom>
          <a:solidFill>
            <a:schemeClr val="accent1">
              <a:alpha val="70000"/>
            </a:schemeClr>
          </a:solidFill>
          <a:ln/>
        </p:spPr>
      </p:sp>
      <p:sp>
        <p:nvSpPr>
          <p:cNvPr id="13" name="resto 1-3"/>
          <p:cNvSpPr/>
          <p:nvPr/>
        </p:nvSpPr>
        <p:spPr>
          <a:xfrm>
            <a:off x="1975104" y="1755648"/>
            <a:ext cx="338328" cy="338328"/>
          </a:xfrm>
          <a:prstGeom prst="rect">
            <a:avLst/>
          </a:prstGeom>
          <a:solidFill>
            <a:schemeClr val="accent1">
              <a:alpha val="70000"/>
            </a:schemeClr>
          </a:solidFill>
          <a:ln/>
        </p:spPr>
      </p:sp>
      <p:sp>
        <p:nvSpPr>
          <p:cNvPr id="14" name="resto 1-4"/>
          <p:cNvSpPr/>
          <p:nvPr/>
        </p:nvSpPr>
        <p:spPr>
          <a:xfrm>
            <a:off x="2359152" y="1755648"/>
            <a:ext cx="338328" cy="338328"/>
          </a:xfrm>
          <a:prstGeom prst="rect">
            <a:avLst/>
          </a:prstGeom>
          <a:solidFill>
            <a:schemeClr val="accent1">
              <a:alpha val="70000"/>
            </a:schemeClr>
          </a:solidFill>
          <a:ln/>
        </p:spPr>
      </p:sp>
      <p:sp>
        <p:nvSpPr>
          <p:cNvPr id="15" name="resto 1-5"/>
          <p:cNvSpPr/>
          <p:nvPr/>
        </p:nvSpPr>
        <p:spPr>
          <a:xfrm>
            <a:off x="2743200" y="1755648"/>
            <a:ext cx="338328" cy="338328"/>
          </a:xfrm>
          <a:prstGeom prst="rect">
            <a:avLst/>
          </a:prstGeom>
          <a:solidFill>
            <a:schemeClr val="accent1">
              <a:alpha val="70000"/>
            </a:schemeClr>
          </a:solidFill>
          <a:ln/>
        </p:spPr>
      </p:sp>
      <p:sp>
        <p:nvSpPr>
          <p:cNvPr id="16" name="resto 2-0"/>
          <p:cNvSpPr/>
          <p:nvPr/>
        </p:nvSpPr>
        <p:spPr>
          <a:xfrm>
            <a:off x="822960" y="2139696"/>
            <a:ext cx="338328" cy="338328"/>
          </a:xfrm>
          <a:prstGeom prst="rect">
            <a:avLst/>
          </a:prstGeom>
          <a:solidFill>
            <a:schemeClr val="accent1">
              <a:alpha val="70000"/>
            </a:schemeClr>
          </a:solidFill>
          <a:ln/>
        </p:spPr>
      </p:sp>
      <p:sp>
        <p:nvSpPr>
          <p:cNvPr id="17" name="resto 2-1"/>
          <p:cNvSpPr/>
          <p:nvPr/>
        </p:nvSpPr>
        <p:spPr>
          <a:xfrm>
            <a:off x="1207008" y="2139696"/>
            <a:ext cx="338328" cy="338328"/>
          </a:xfrm>
          <a:prstGeom prst="rect">
            <a:avLst/>
          </a:prstGeom>
          <a:solidFill>
            <a:schemeClr val="accent1">
              <a:alpha val="70000"/>
            </a:schemeClr>
          </a:solidFill>
          <a:ln/>
        </p:spPr>
      </p:sp>
      <p:sp>
        <p:nvSpPr>
          <p:cNvPr id="18" name="resto 2-2"/>
          <p:cNvSpPr/>
          <p:nvPr/>
        </p:nvSpPr>
        <p:spPr>
          <a:xfrm>
            <a:off x="1591056" y="2139696"/>
            <a:ext cx="338328" cy="338328"/>
          </a:xfrm>
          <a:prstGeom prst="rect">
            <a:avLst/>
          </a:prstGeom>
          <a:solidFill>
            <a:schemeClr val="accent1">
              <a:alpha val="70000"/>
            </a:schemeClr>
          </a:solidFill>
          <a:ln/>
        </p:spPr>
      </p:sp>
      <p:sp>
        <p:nvSpPr>
          <p:cNvPr id="19" name="resto 2-3"/>
          <p:cNvSpPr/>
          <p:nvPr/>
        </p:nvSpPr>
        <p:spPr>
          <a:xfrm>
            <a:off x="1975104" y="2139696"/>
            <a:ext cx="338328" cy="338328"/>
          </a:xfrm>
          <a:prstGeom prst="rect">
            <a:avLst/>
          </a:prstGeom>
          <a:solidFill>
            <a:schemeClr val="accent1">
              <a:alpha val="70000"/>
            </a:schemeClr>
          </a:solidFill>
          <a:ln/>
        </p:spPr>
      </p:sp>
      <p:sp>
        <p:nvSpPr>
          <p:cNvPr id="20" name="resto 2-4"/>
          <p:cNvSpPr/>
          <p:nvPr/>
        </p:nvSpPr>
        <p:spPr>
          <a:xfrm>
            <a:off x="2359152" y="2139696"/>
            <a:ext cx="338328" cy="338328"/>
          </a:xfrm>
          <a:prstGeom prst="rect">
            <a:avLst/>
          </a:prstGeom>
          <a:solidFill>
            <a:schemeClr val="accent1">
              <a:alpha val="70000"/>
            </a:schemeClr>
          </a:solidFill>
          <a:ln/>
        </p:spPr>
      </p:sp>
      <p:sp>
        <p:nvSpPr>
          <p:cNvPr id="21" name="resto 2-5"/>
          <p:cNvSpPr/>
          <p:nvPr/>
        </p:nvSpPr>
        <p:spPr>
          <a:xfrm>
            <a:off x="2743200" y="2139696"/>
            <a:ext cx="338328" cy="338328"/>
          </a:xfrm>
          <a:prstGeom prst="rect">
            <a:avLst/>
          </a:prstGeom>
          <a:solidFill>
            <a:schemeClr val="accent1">
              <a:alpha val="70000"/>
            </a:schemeClr>
          </a:solidFill>
          <a:ln/>
        </p:spPr>
      </p:sp>
      <p:sp>
        <p:nvSpPr>
          <p:cNvPr id="22" name="resto 3-0"/>
          <p:cNvSpPr/>
          <p:nvPr/>
        </p:nvSpPr>
        <p:spPr>
          <a:xfrm>
            <a:off x="822960" y="2523744"/>
            <a:ext cx="338328" cy="338328"/>
          </a:xfrm>
          <a:prstGeom prst="rect">
            <a:avLst/>
          </a:prstGeom>
          <a:solidFill>
            <a:schemeClr val="accent2">
              <a:alpha val="70000"/>
            </a:schemeClr>
          </a:solidFill>
          <a:ln/>
        </p:spPr>
      </p:sp>
      <p:sp>
        <p:nvSpPr>
          <p:cNvPr id="23" name="resto 3-1"/>
          <p:cNvSpPr/>
          <p:nvPr/>
        </p:nvSpPr>
        <p:spPr>
          <a:xfrm>
            <a:off x="1207008" y="2523744"/>
            <a:ext cx="338328" cy="338328"/>
          </a:xfrm>
          <a:prstGeom prst="rect">
            <a:avLst/>
          </a:prstGeom>
          <a:solidFill>
            <a:schemeClr val="accent2">
              <a:alpha val="70000"/>
            </a:schemeClr>
          </a:solidFill>
          <a:ln/>
        </p:spPr>
      </p:sp>
      <p:sp>
        <p:nvSpPr>
          <p:cNvPr id="24" name="resto 3-2"/>
          <p:cNvSpPr/>
          <p:nvPr/>
        </p:nvSpPr>
        <p:spPr>
          <a:xfrm>
            <a:off x="1591056" y="2523744"/>
            <a:ext cx="338328" cy="338328"/>
          </a:xfrm>
          <a:prstGeom prst="rect">
            <a:avLst/>
          </a:prstGeom>
          <a:solidFill>
            <a:schemeClr val="accent2">
              <a:alpha val="70000"/>
            </a:schemeClr>
          </a:solidFill>
          <a:ln/>
        </p:spPr>
      </p:sp>
      <p:sp>
        <p:nvSpPr>
          <p:cNvPr id="25" name="resto 3-3"/>
          <p:cNvSpPr/>
          <p:nvPr/>
        </p:nvSpPr>
        <p:spPr>
          <a:xfrm>
            <a:off x="1975104" y="2523744"/>
            <a:ext cx="338328" cy="338328"/>
          </a:xfrm>
          <a:prstGeom prst="rect">
            <a:avLst/>
          </a:prstGeom>
          <a:solidFill>
            <a:schemeClr val="accent2">
              <a:alpha val="70000"/>
            </a:schemeClr>
          </a:solidFill>
          <a:ln/>
        </p:spPr>
      </p:sp>
      <p:sp>
        <p:nvSpPr>
          <p:cNvPr id="26" name="resto 3-4"/>
          <p:cNvSpPr/>
          <p:nvPr/>
        </p:nvSpPr>
        <p:spPr>
          <a:xfrm>
            <a:off x="2359152" y="2523744"/>
            <a:ext cx="338328" cy="338328"/>
          </a:xfrm>
          <a:prstGeom prst="rect">
            <a:avLst/>
          </a:prstGeom>
          <a:solidFill>
            <a:schemeClr val="accent2">
              <a:alpha val="70000"/>
            </a:schemeClr>
          </a:solidFill>
          <a:ln/>
        </p:spPr>
      </p:sp>
      <p:sp>
        <p:nvSpPr>
          <p:cNvPr id="27" name="resto 3-5"/>
          <p:cNvSpPr/>
          <p:nvPr/>
        </p:nvSpPr>
        <p:spPr>
          <a:xfrm>
            <a:off x="2743200" y="2523744"/>
            <a:ext cx="338328" cy="338328"/>
          </a:xfrm>
          <a:prstGeom prst="rect">
            <a:avLst/>
          </a:prstGeom>
          <a:solidFill>
            <a:schemeClr val="accent2">
              <a:alpha val="70000"/>
            </a:schemeClr>
          </a:solidFill>
          <a:ln/>
        </p:spPr>
      </p:sp>
      <p:sp>
        <p:nvSpPr>
          <p:cNvPr id="28" name="resto 4-0"/>
          <p:cNvSpPr/>
          <p:nvPr/>
        </p:nvSpPr>
        <p:spPr>
          <a:xfrm>
            <a:off x="822960" y="2907792"/>
            <a:ext cx="338328" cy="338328"/>
          </a:xfrm>
          <a:prstGeom prst="rect">
            <a:avLst/>
          </a:prstGeom>
          <a:solidFill>
            <a:schemeClr val="accent2">
              <a:alpha val="70000"/>
            </a:schemeClr>
          </a:solidFill>
          <a:ln/>
        </p:spPr>
      </p:sp>
      <p:sp>
        <p:nvSpPr>
          <p:cNvPr id="29" name="resto 4-1"/>
          <p:cNvSpPr/>
          <p:nvPr/>
        </p:nvSpPr>
        <p:spPr>
          <a:xfrm>
            <a:off x="1207008" y="2907792"/>
            <a:ext cx="338328" cy="338328"/>
          </a:xfrm>
          <a:prstGeom prst="rect">
            <a:avLst/>
          </a:prstGeom>
          <a:solidFill>
            <a:schemeClr val="accent2">
              <a:alpha val="70000"/>
            </a:schemeClr>
          </a:solidFill>
          <a:ln/>
        </p:spPr>
      </p:sp>
      <p:sp>
        <p:nvSpPr>
          <p:cNvPr id="30" name="resto 4-2"/>
          <p:cNvSpPr/>
          <p:nvPr/>
        </p:nvSpPr>
        <p:spPr>
          <a:xfrm>
            <a:off x="1591056" y="2907792"/>
            <a:ext cx="338328" cy="338328"/>
          </a:xfrm>
          <a:prstGeom prst="rect">
            <a:avLst/>
          </a:prstGeom>
          <a:solidFill>
            <a:schemeClr val="accent2">
              <a:alpha val="70000"/>
            </a:schemeClr>
          </a:solidFill>
          <a:ln/>
        </p:spPr>
      </p:sp>
      <p:sp>
        <p:nvSpPr>
          <p:cNvPr id="31" name="resto 4-3"/>
          <p:cNvSpPr/>
          <p:nvPr/>
        </p:nvSpPr>
        <p:spPr>
          <a:xfrm>
            <a:off x="1975104" y="2907792"/>
            <a:ext cx="338328" cy="338328"/>
          </a:xfrm>
          <a:prstGeom prst="rect">
            <a:avLst/>
          </a:prstGeom>
          <a:solidFill>
            <a:schemeClr val="accent2">
              <a:alpha val="70000"/>
            </a:schemeClr>
          </a:solidFill>
          <a:ln/>
        </p:spPr>
      </p:sp>
      <p:sp>
        <p:nvSpPr>
          <p:cNvPr id="32" name="resto 4-4"/>
          <p:cNvSpPr/>
          <p:nvPr/>
        </p:nvSpPr>
        <p:spPr>
          <a:xfrm>
            <a:off x="2359152" y="2907792"/>
            <a:ext cx="338328" cy="338328"/>
          </a:xfrm>
          <a:prstGeom prst="rect">
            <a:avLst/>
          </a:prstGeom>
          <a:solidFill>
            <a:schemeClr val="accent2">
              <a:alpha val="70000"/>
            </a:schemeClr>
          </a:solidFill>
          <a:ln/>
        </p:spPr>
      </p:sp>
      <p:sp>
        <p:nvSpPr>
          <p:cNvPr id="33" name="resto 4-5"/>
          <p:cNvSpPr/>
          <p:nvPr/>
        </p:nvSpPr>
        <p:spPr>
          <a:xfrm>
            <a:off x="2743200" y="2907792"/>
            <a:ext cx="338328" cy="338328"/>
          </a:xfrm>
          <a:prstGeom prst="rect">
            <a:avLst/>
          </a:prstGeom>
          <a:solidFill>
            <a:schemeClr val="accent2">
              <a:alpha val="70000"/>
            </a:schemeClr>
          </a:solidFill>
          <a:ln/>
        </p:spPr>
      </p:sp>
      <p:sp>
        <p:nvSpPr>
          <p:cNvPr id="34" name="resto 5-0"/>
          <p:cNvSpPr/>
          <p:nvPr/>
        </p:nvSpPr>
        <p:spPr>
          <a:xfrm>
            <a:off x="822960" y="3291840"/>
            <a:ext cx="338328" cy="338328"/>
          </a:xfrm>
          <a:prstGeom prst="rect">
            <a:avLst/>
          </a:prstGeom>
          <a:solidFill>
            <a:schemeClr val="accent3">
              <a:alpha val="70000"/>
            </a:schemeClr>
          </a:solidFill>
          <a:ln/>
        </p:spPr>
      </p:sp>
      <p:sp>
        <p:nvSpPr>
          <p:cNvPr id="35" name="resto 5-1"/>
          <p:cNvSpPr/>
          <p:nvPr/>
        </p:nvSpPr>
        <p:spPr>
          <a:xfrm>
            <a:off x="1207008" y="3291840"/>
            <a:ext cx="338328" cy="338328"/>
          </a:xfrm>
          <a:prstGeom prst="rect">
            <a:avLst/>
          </a:prstGeom>
          <a:solidFill>
            <a:schemeClr val="accent3">
              <a:alpha val="70000"/>
            </a:schemeClr>
          </a:solidFill>
          <a:ln/>
        </p:spPr>
      </p:sp>
      <p:sp>
        <p:nvSpPr>
          <p:cNvPr id="36" name="resto 5-2"/>
          <p:cNvSpPr/>
          <p:nvPr/>
        </p:nvSpPr>
        <p:spPr>
          <a:xfrm>
            <a:off x="1591056" y="3291840"/>
            <a:ext cx="338328" cy="338328"/>
          </a:xfrm>
          <a:prstGeom prst="rect">
            <a:avLst/>
          </a:prstGeom>
          <a:solidFill>
            <a:schemeClr val="accent3">
              <a:alpha val="70000"/>
            </a:schemeClr>
          </a:solidFill>
          <a:ln/>
        </p:spPr>
      </p:sp>
      <p:sp>
        <p:nvSpPr>
          <p:cNvPr id="37" name="resto 5-3"/>
          <p:cNvSpPr/>
          <p:nvPr/>
        </p:nvSpPr>
        <p:spPr>
          <a:xfrm>
            <a:off x="1975104" y="3291840"/>
            <a:ext cx="338328" cy="338328"/>
          </a:xfrm>
          <a:prstGeom prst="rect">
            <a:avLst/>
          </a:prstGeom>
          <a:solidFill>
            <a:schemeClr val="accent3">
              <a:alpha val="70000"/>
            </a:schemeClr>
          </a:solidFill>
          <a:ln/>
        </p:spPr>
      </p:sp>
      <p:sp>
        <p:nvSpPr>
          <p:cNvPr id="38" name="resto 5-4"/>
          <p:cNvSpPr/>
          <p:nvPr/>
        </p:nvSpPr>
        <p:spPr>
          <a:xfrm>
            <a:off x="2359152" y="3291840"/>
            <a:ext cx="338328" cy="338328"/>
          </a:xfrm>
          <a:prstGeom prst="rect">
            <a:avLst/>
          </a:prstGeom>
          <a:solidFill>
            <a:schemeClr val="accent3">
              <a:alpha val="70000"/>
            </a:schemeClr>
          </a:solidFill>
          <a:ln/>
        </p:spPr>
      </p:sp>
      <p:sp>
        <p:nvSpPr>
          <p:cNvPr id="39" name="resto 5-5"/>
          <p:cNvSpPr/>
          <p:nvPr/>
        </p:nvSpPr>
        <p:spPr>
          <a:xfrm>
            <a:off x="2743200" y="3291840"/>
            <a:ext cx="338328" cy="338328"/>
          </a:xfrm>
          <a:prstGeom prst="rect">
            <a:avLst/>
          </a:prstGeom>
          <a:solidFill>
            <a:schemeClr val="accent3">
              <a:alpha val="70000"/>
            </a:schemeClr>
          </a:solidFill>
          <a:ln/>
        </p:spPr>
      </p:sp>
      <p:sp>
        <p:nvSpPr>
          <p:cNvPr id="40" name="resto 6-0"/>
          <p:cNvSpPr/>
          <p:nvPr/>
        </p:nvSpPr>
        <p:spPr>
          <a:xfrm>
            <a:off x="822960" y="3675888"/>
            <a:ext cx="338328" cy="338328"/>
          </a:xfrm>
          <a:prstGeom prst="rect">
            <a:avLst/>
          </a:prstGeom>
          <a:solidFill>
            <a:schemeClr val="accent3">
              <a:alpha val="70000"/>
            </a:schemeClr>
          </a:solidFill>
          <a:ln/>
        </p:spPr>
      </p:sp>
      <p:sp>
        <p:nvSpPr>
          <p:cNvPr id="41" name="resto 6-1"/>
          <p:cNvSpPr/>
          <p:nvPr/>
        </p:nvSpPr>
        <p:spPr>
          <a:xfrm>
            <a:off x="1207008" y="3675888"/>
            <a:ext cx="338328" cy="338328"/>
          </a:xfrm>
          <a:prstGeom prst="rect">
            <a:avLst/>
          </a:prstGeom>
          <a:solidFill>
            <a:schemeClr val="accent3">
              <a:alpha val="70000"/>
            </a:schemeClr>
          </a:solidFill>
          <a:ln/>
        </p:spPr>
      </p:sp>
      <p:sp>
        <p:nvSpPr>
          <p:cNvPr id="42" name="resto 6-2"/>
          <p:cNvSpPr/>
          <p:nvPr/>
        </p:nvSpPr>
        <p:spPr>
          <a:xfrm>
            <a:off x="1591056" y="3675888"/>
            <a:ext cx="338328" cy="338328"/>
          </a:xfrm>
          <a:prstGeom prst="rect">
            <a:avLst/>
          </a:prstGeom>
          <a:solidFill>
            <a:schemeClr val="accent3">
              <a:alpha val="70000"/>
            </a:schemeClr>
          </a:solidFill>
          <a:ln/>
        </p:spPr>
      </p:sp>
      <p:sp>
        <p:nvSpPr>
          <p:cNvPr id="43" name="resto 6-3"/>
          <p:cNvSpPr/>
          <p:nvPr/>
        </p:nvSpPr>
        <p:spPr>
          <a:xfrm>
            <a:off x="1975104" y="3675888"/>
            <a:ext cx="338328" cy="338328"/>
          </a:xfrm>
          <a:prstGeom prst="rect">
            <a:avLst/>
          </a:prstGeom>
          <a:solidFill>
            <a:schemeClr val="accent3">
              <a:alpha val="70000"/>
            </a:schemeClr>
          </a:solidFill>
          <a:ln/>
        </p:spPr>
      </p:sp>
      <p:sp>
        <p:nvSpPr>
          <p:cNvPr id="44" name="resto 6-4"/>
          <p:cNvSpPr/>
          <p:nvPr/>
        </p:nvSpPr>
        <p:spPr>
          <a:xfrm>
            <a:off x="2359152" y="3675888"/>
            <a:ext cx="338328" cy="338328"/>
          </a:xfrm>
          <a:prstGeom prst="rect">
            <a:avLst/>
          </a:prstGeom>
          <a:solidFill>
            <a:schemeClr val="accent3">
              <a:alpha val="70000"/>
            </a:schemeClr>
          </a:solidFill>
          <a:ln/>
        </p:spPr>
      </p:sp>
      <p:sp>
        <p:nvSpPr>
          <p:cNvPr id="45" name="resto 6-5"/>
          <p:cNvSpPr/>
          <p:nvPr/>
        </p:nvSpPr>
        <p:spPr>
          <a:xfrm>
            <a:off x="2743200" y="3675888"/>
            <a:ext cx="338328" cy="338328"/>
          </a:xfrm>
          <a:prstGeom prst="rect">
            <a:avLst/>
          </a:prstGeom>
          <a:solidFill>
            <a:schemeClr val="accent3">
              <a:alpha val="70000"/>
            </a:schemeClr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3291840" y="1737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T0: 3 linhas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3291840" y="2743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T1: 2 linhas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3291840" y="3520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T2: 2 linhas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4754880" y="137160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7 linhas e 3 threads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base = 7 ÷ 3 = 2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resto = 7 mod 3 = 1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As primeiras 'resto' faixas ganham 1 linha extra: 3, 2 e 2.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accent5"/>
                </a:solidFill>
              </a:rPr>
              <a:t>Mais threads que linhas? Uma thread por linha.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ao"/>
          <p:cNvSpPr txBox="1"/>
          <p:nvPr/>
        </p:nvSpPr>
        <p:spPr>
          <a:xfrm>
            <a:off x="457200" y="1097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SOLUÇÃO PARALELA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Fase 1: identificação dos componentes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Faixa da thread 0 (linhas 0 a 2)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65760" cy="3657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463040"/>
            <a:ext cx="365760" cy="3657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Shape 5"/>
          <p:cNvSpPr/>
          <p:nvPr/>
        </p:nvSpPr>
        <p:spPr>
          <a:xfrm>
            <a:off x="1280160" y="1463040"/>
            <a:ext cx="365760" cy="3657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Shape 6"/>
          <p:cNvSpPr/>
          <p:nvPr/>
        </p:nvSpPr>
        <p:spPr>
          <a:xfrm>
            <a:off x="1691640" y="1463040"/>
            <a:ext cx="365760" cy="3657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2103120" y="1463040"/>
            <a:ext cx="365760" cy="3657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Shape 8"/>
          <p:cNvSpPr/>
          <p:nvPr/>
        </p:nvSpPr>
        <p:spPr>
          <a:xfrm>
            <a:off x="2514600" y="1463040"/>
            <a:ext cx="365760" cy="3657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Shape 9"/>
          <p:cNvSpPr/>
          <p:nvPr/>
        </p:nvSpPr>
        <p:spPr>
          <a:xfrm>
            <a:off x="2926080" y="1463040"/>
            <a:ext cx="365760" cy="3657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92608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7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7560" y="1463040"/>
            <a:ext cx="365760" cy="3657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33756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7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1874520"/>
            <a:ext cx="365760" cy="3657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Shape 14"/>
          <p:cNvSpPr/>
          <p:nvPr/>
        </p:nvSpPr>
        <p:spPr>
          <a:xfrm>
            <a:off x="868680" y="1874520"/>
            <a:ext cx="365760" cy="36576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10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280160" y="1874520"/>
            <a:ext cx="365760" cy="36576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28016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10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691640" y="1874520"/>
            <a:ext cx="365760" cy="36576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69164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10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103120" y="1874520"/>
            <a:ext cx="365760" cy="36576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10312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10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14600" y="1874520"/>
            <a:ext cx="365760" cy="3657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5" name="Shape 23"/>
          <p:cNvSpPr/>
          <p:nvPr/>
        </p:nvSpPr>
        <p:spPr>
          <a:xfrm>
            <a:off x="2926080" y="1874520"/>
            <a:ext cx="365760" cy="3657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292608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7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37560" y="1874520"/>
            <a:ext cx="365760" cy="3657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" y="2286000"/>
            <a:ext cx="365760" cy="3657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9" name="Shape 27"/>
          <p:cNvSpPr/>
          <p:nvPr/>
        </p:nvSpPr>
        <p:spPr>
          <a:xfrm>
            <a:off x="868680" y="2286000"/>
            <a:ext cx="365760" cy="3657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0" name="Shape 28"/>
          <p:cNvSpPr/>
          <p:nvPr/>
        </p:nvSpPr>
        <p:spPr>
          <a:xfrm>
            <a:off x="1280160" y="2286000"/>
            <a:ext cx="365760" cy="36576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28016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10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691640" y="2286000"/>
            <a:ext cx="365760" cy="36576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169164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10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103120" y="2286000"/>
            <a:ext cx="365760" cy="3657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5" name="Shape 33"/>
          <p:cNvSpPr/>
          <p:nvPr/>
        </p:nvSpPr>
        <p:spPr>
          <a:xfrm>
            <a:off x="2514600" y="2286000"/>
            <a:ext cx="365760" cy="3657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6" name="Shape 34"/>
          <p:cNvSpPr/>
          <p:nvPr/>
        </p:nvSpPr>
        <p:spPr>
          <a:xfrm>
            <a:off x="2926080" y="2286000"/>
            <a:ext cx="365760" cy="3657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7" name="Shape 35"/>
          <p:cNvSpPr/>
          <p:nvPr/>
        </p:nvSpPr>
        <p:spPr>
          <a:xfrm>
            <a:off x="3337560" y="2286000"/>
            <a:ext cx="365760" cy="3657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57200" y="2834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Faixa da thread 1 (linhas 3 a 5)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3108960"/>
            <a:ext cx="365760" cy="3657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0" name="Shape 38"/>
          <p:cNvSpPr/>
          <p:nvPr/>
        </p:nvSpPr>
        <p:spPr>
          <a:xfrm>
            <a:off x="868680" y="3108960"/>
            <a:ext cx="365760" cy="3657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1" name="Shape 39"/>
          <p:cNvSpPr/>
          <p:nvPr/>
        </p:nvSpPr>
        <p:spPr>
          <a:xfrm>
            <a:off x="1280160" y="3108960"/>
            <a:ext cx="365760" cy="3657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2" name="Shape 40"/>
          <p:cNvSpPr/>
          <p:nvPr/>
        </p:nvSpPr>
        <p:spPr>
          <a:xfrm>
            <a:off x="1691640" y="3108960"/>
            <a:ext cx="365760" cy="36576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169164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28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103120" y="3108960"/>
            <a:ext cx="365760" cy="36576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210312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28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514600" y="3108960"/>
            <a:ext cx="365760" cy="3657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7" name="Shape 45"/>
          <p:cNvSpPr/>
          <p:nvPr/>
        </p:nvSpPr>
        <p:spPr>
          <a:xfrm>
            <a:off x="2926080" y="3108960"/>
            <a:ext cx="365760" cy="3657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8" name="Shape 46"/>
          <p:cNvSpPr/>
          <p:nvPr/>
        </p:nvSpPr>
        <p:spPr>
          <a:xfrm>
            <a:off x="3337560" y="3108960"/>
            <a:ext cx="365760" cy="3657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9" name="Shape 47"/>
          <p:cNvSpPr/>
          <p:nvPr/>
        </p:nvSpPr>
        <p:spPr>
          <a:xfrm>
            <a:off x="457200" y="3520440"/>
            <a:ext cx="365760" cy="3657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0" name="Shape 48"/>
          <p:cNvSpPr/>
          <p:nvPr/>
        </p:nvSpPr>
        <p:spPr>
          <a:xfrm>
            <a:off x="868680" y="3520440"/>
            <a:ext cx="365760" cy="3657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1" name="Shape 49"/>
          <p:cNvSpPr/>
          <p:nvPr/>
        </p:nvSpPr>
        <p:spPr>
          <a:xfrm>
            <a:off x="1280160" y="3520440"/>
            <a:ext cx="365760" cy="3657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2" name="Shape 50"/>
          <p:cNvSpPr/>
          <p:nvPr/>
        </p:nvSpPr>
        <p:spPr>
          <a:xfrm>
            <a:off x="1691640" y="3520440"/>
            <a:ext cx="365760" cy="3657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3" name="Shape 51"/>
          <p:cNvSpPr/>
          <p:nvPr/>
        </p:nvSpPr>
        <p:spPr>
          <a:xfrm>
            <a:off x="2103120" y="3520440"/>
            <a:ext cx="365760" cy="36576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210312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28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514600" y="3520440"/>
            <a:ext cx="365760" cy="3657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6" name="Shape 54"/>
          <p:cNvSpPr/>
          <p:nvPr/>
        </p:nvSpPr>
        <p:spPr>
          <a:xfrm>
            <a:off x="2926080" y="3520440"/>
            <a:ext cx="365760" cy="3657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7" name="Shape 55"/>
          <p:cNvSpPr/>
          <p:nvPr/>
        </p:nvSpPr>
        <p:spPr>
          <a:xfrm>
            <a:off x="3337560" y="3520440"/>
            <a:ext cx="365760" cy="365760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333756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40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57200" y="3931920"/>
            <a:ext cx="365760" cy="36576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45720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41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68680" y="3931920"/>
            <a:ext cx="365760" cy="36576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86868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41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1280160" y="3931920"/>
            <a:ext cx="365760" cy="3657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4" name="Shape 62"/>
          <p:cNvSpPr/>
          <p:nvPr/>
        </p:nvSpPr>
        <p:spPr>
          <a:xfrm>
            <a:off x="1691640" y="3931920"/>
            <a:ext cx="365760" cy="3657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5" name="Shape 63"/>
          <p:cNvSpPr/>
          <p:nvPr/>
        </p:nvSpPr>
        <p:spPr>
          <a:xfrm>
            <a:off x="2103120" y="3931920"/>
            <a:ext cx="365760" cy="3657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6" name="Shape 64"/>
          <p:cNvSpPr/>
          <p:nvPr/>
        </p:nvSpPr>
        <p:spPr>
          <a:xfrm>
            <a:off x="2514600" y="3931920"/>
            <a:ext cx="365760" cy="3657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7" name="Shape 65"/>
          <p:cNvSpPr/>
          <p:nvPr/>
        </p:nvSpPr>
        <p:spPr>
          <a:xfrm>
            <a:off x="2926080" y="3931920"/>
            <a:ext cx="365760" cy="365760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292608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40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3337560" y="3931920"/>
            <a:ext cx="365760" cy="365760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333756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40</a:t>
            </a:r>
            <a:endParaRPr lang="en-US" sz="1000" dirty="0"/>
          </a:p>
        </p:txBody>
      </p:sp>
      <p:sp>
        <p:nvSpPr>
          <p:cNvPr id="71" name="Text 69"/>
          <p:cNvSpPr txBox="1"/>
          <p:nvPr/>
        </p:nvSpPr>
        <p:spPr>
          <a:xfrm>
            <a:off x="4206240" y="1463040"/>
            <a:ext cx="4480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rótulo = linha × colunas + coluna + 1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É a posição da primeira célula do objeto local.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Único na matriz inteira: threads diferentes nunca repetem rótulo.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Exemplo: o objeto B começa em (1,1), então 1×8 + 1 + 1 = 10.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ao"/>
          <p:cNvSpPr txBox="1"/>
          <p:nvPr/>
        </p:nvSpPr>
        <p:spPr>
          <a:xfrm>
            <a:off x="457200" y="1097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SOLUÇÃO PARALELA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Fase 1: o flood fill não sai da faixa</a:t>
            </a:r>
            <a:endParaRPr lang="en-US" sz="3000" dirty="0"/>
          </a:p>
        </p:txBody>
      </p:sp>
      <p:sp>
        <p:nvSpPr>
          <p:cNvPr id="4" name="lim 0-0"/>
          <p:cNvSpPr/>
          <p:nvPr/>
        </p:nvSpPr>
        <p:spPr>
          <a:xfrm>
            <a:off x="457200" y="1371600"/>
            <a:ext cx="374904" cy="374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lim 0-1"/>
          <p:cNvSpPr/>
          <p:nvPr/>
        </p:nvSpPr>
        <p:spPr>
          <a:xfrm>
            <a:off x="877824" y="1371600"/>
            <a:ext cx="374904" cy="374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lim 0-2"/>
          <p:cNvSpPr/>
          <p:nvPr/>
        </p:nvSpPr>
        <p:spPr>
          <a:xfrm>
            <a:off x="1298448" y="1371600"/>
            <a:ext cx="374904" cy="374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lim 0-3"/>
          <p:cNvSpPr/>
          <p:nvPr/>
        </p:nvSpPr>
        <p:spPr>
          <a:xfrm>
            <a:off x="1719072" y="1371600"/>
            <a:ext cx="374904" cy="374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lim 0-4"/>
          <p:cNvSpPr/>
          <p:nvPr/>
        </p:nvSpPr>
        <p:spPr>
          <a:xfrm>
            <a:off x="2139696" y="1371600"/>
            <a:ext cx="374904" cy="374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lim 0-5"/>
          <p:cNvSpPr/>
          <p:nvPr/>
        </p:nvSpPr>
        <p:spPr>
          <a:xfrm>
            <a:off x="2560320" y="1371600"/>
            <a:ext cx="374904" cy="374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lim 0-6"/>
          <p:cNvSpPr/>
          <p:nvPr/>
        </p:nvSpPr>
        <p:spPr>
          <a:xfrm>
            <a:off x="2980944" y="1371600"/>
            <a:ext cx="374904" cy="37490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lim 0-7"/>
          <p:cNvSpPr/>
          <p:nvPr/>
        </p:nvSpPr>
        <p:spPr>
          <a:xfrm>
            <a:off x="3401568" y="1371600"/>
            <a:ext cx="374904" cy="37490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lim 1-0"/>
          <p:cNvSpPr/>
          <p:nvPr/>
        </p:nvSpPr>
        <p:spPr>
          <a:xfrm>
            <a:off x="457200" y="1792224"/>
            <a:ext cx="374904" cy="374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lim 1-1"/>
          <p:cNvSpPr/>
          <p:nvPr/>
        </p:nvSpPr>
        <p:spPr>
          <a:xfrm>
            <a:off x="877824" y="1792224"/>
            <a:ext cx="374904" cy="37490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4" name="lim 1-2"/>
          <p:cNvSpPr/>
          <p:nvPr/>
        </p:nvSpPr>
        <p:spPr>
          <a:xfrm>
            <a:off x="1298448" y="1792224"/>
            <a:ext cx="374904" cy="37490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5" name="lim 1-3"/>
          <p:cNvSpPr/>
          <p:nvPr/>
        </p:nvSpPr>
        <p:spPr>
          <a:xfrm>
            <a:off x="1719072" y="1792224"/>
            <a:ext cx="374904" cy="37490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6" name="lim 1-4"/>
          <p:cNvSpPr/>
          <p:nvPr/>
        </p:nvSpPr>
        <p:spPr>
          <a:xfrm>
            <a:off x="2139696" y="1792224"/>
            <a:ext cx="374904" cy="37490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7" name="lim 1-5"/>
          <p:cNvSpPr/>
          <p:nvPr/>
        </p:nvSpPr>
        <p:spPr>
          <a:xfrm>
            <a:off x="2560320" y="1792224"/>
            <a:ext cx="374904" cy="374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8" name="lim 1-6"/>
          <p:cNvSpPr/>
          <p:nvPr/>
        </p:nvSpPr>
        <p:spPr>
          <a:xfrm>
            <a:off x="2980944" y="1792224"/>
            <a:ext cx="374904" cy="37490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9" name="lim 1-7"/>
          <p:cNvSpPr/>
          <p:nvPr/>
        </p:nvSpPr>
        <p:spPr>
          <a:xfrm>
            <a:off x="3401568" y="1792224"/>
            <a:ext cx="374904" cy="374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0" name="lim 2-0"/>
          <p:cNvSpPr/>
          <p:nvPr/>
        </p:nvSpPr>
        <p:spPr>
          <a:xfrm>
            <a:off x="457200" y="2212848"/>
            <a:ext cx="374904" cy="374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1" name="lim 2-1"/>
          <p:cNvSpPr/>
          <p:nvPr/>
        </p:nvSpPr>
        <p:spPr>
          <a:xfrm>
            <a:off x="877824" y="2212848"/>
            <a:ext cx="374904" cy="374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lim 2-2"/>
          <p:cNvSpPr/>
          <p:nvPr/>
        </p:nvSpPr>
        <p:spPr>
          <a:xfrm>
            <a:off x="1298448" y="2212848"/>
            <a:ext cx="374904" cy="37490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3" name="lim 2-3"/>
          <p:cNvSpPr/>
          <p:nvPr/>
        </p:nvSpPr>
        <p:spPr>
          <a:xfrm>
            <a:off x="1719072" y="2212848"/>
            <a:ext cx="374904" cy="37490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4" name="lim 2-4"/>
          <p:cNvSpPr/>
          <p:nvPr/>
        </p:nvSpPr>
        <p:spPr>
          <a:xfrm>
            <a:off x="2139696" y="2212848"/>
            <a:ext cx="374904" cy="374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5" name="lim 2-5"/>
          <p:cNvSpPr/>
          <p:nvPr/>
        </p:nvSpPr>
        <p:spPr>
          <a:xfrm>
            <a:off x="2560320" y="2212848"/>
            <a:ext cx="374904" cy="374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6" name="lim 2-6"/>
          <p:cNvSpPr/>
          <p:nvPr/>
        </p:nvSpPr>
        <p:spPr>
          <a:xfrm>
            <a:off x="2980944" y="2212848"/>
            <a:ext cx="374904" cy="374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7" name="lim 2-7"/>
          <p:cNvSpPr/>
          <p:nvPr/>
        </p:nvSpPr>
        <p:spPr>
          <a:xfrm>
            <a:off x="3401568" y="2212848"/>
            <a:ext cx="374904" cy="374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8" name="lim 3-0"/>
          <p:cNvSpPr/>
          <p:nvPr/>
        </p:nvSpPr>
        <p:spPr>
          <a:xfrm>
            <a:off x="457200" y="2633472"/>
            <a:ext cx="374904" cy="374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9" name="lim 3-1"/>
          <p:cNvSpPr/>
          <p:nvPr/>
        </p:nvSpPr>
        <p:spPr>
          <a:xfrm>
            <a:off x="877824" y="2633472"/>
            <a:ext cx="374904" cy="374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0" name="lim 3-2"/>
          <p:cNvSpPr/>
          <p:nvPr/>
        </p:nvSpPr>
        <p:spPr>
          <a:xfrm>
            <a:off x="1298448" y="2633472"/>
            <a:ext cx="374904" cy="374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1" name="lim 3-3"/>
          <p:cNvSpPr/>
          <p:nvPr/>
        </p:nvSpPr>
        <p:spPr>
          <a:xfrm>
            <a:off x="1719072" y="2633472"/>
            <a:ext cx="374904" cy="37490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2" name="lim 3-4"/>
          <p:cNvSpPr/>
          <p:nvPr/>
        </p:nvSpPr>
        <p:spPr>
          <a:xfrm>
            <a:off x="2139696" y="2633472"/>
            <a:ext cx="374904" cy="37490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3" name="lim 3-5"/>
          <p:cNvSpPr/>
          <p:nvPr/>
        </p:nvSpPr>
        <p:spPr>
          <a:xfrm>
            <a:off x="2560320" y="2633472"/>
            <a:ext cx="374904" cy="374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4" name="lim 3-6"/>
          <p:cNvSpPr/>
          <p:nvPr/>
        </p:nvSpPr>
        <p:spPr>
          <a:xfrm>
            <a:off x="2980944" y="2633472"/>
            <a:ext cx="374904" cy="374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5" name="lim 3-7"/>
          <p:cNvSpPr/>
          <p:nvPr/>
        </p:nvSpPr>
        <p:spPr>
          <a:xfrm>
            <a:off x="3401568" y="2633472"/>
            <a:ext cx="374904" cy="374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6" name="lim 4-0"/>
          <p:cNvSpPr/>
          <p:nvPr/>
        </p:nvSpPr>
        <p:spPr>
          <a:xfrm>
            <a:off x="457200" y="3054096"/>
            <a:ext cx="374904" cy="374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7" name="lim 4-1"/>
          <p:cNvSpPr/>
          <p:nvPr/>
        </p:nvSpPr>
        <p:spPr>
          <a:xfrm>
            <a:off x="877824" y="3054096"/>
            <a:ext cx="374904" cy="374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8" name="lim 4-2"/>
          <p:cNvSpPr/>
          <p:nvPr/>
        </p:nvSpPr>
        <p:spPr>
          <a:xfrm>
            <a:off x="1298448" y="3054096"/>
            <a:ext cx="374904" cy="374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9" name="lim 4-3"/>
          <p:cNvSpPr/>
          <p:nvPr/>
        </p:nvSpPr>
        <p:spPr>
          <a:xfrm>
            <a:off x="1719072" y="3054096"/>
            <a:ext cx="374904" cy="374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0" name="lim 4-4"/>
          <p:cNvSpPr/>
          <p:nvPr/>
        </p:nvSpPr>
        <p:spPr>
          <a:xfrm>
            <a:off x="2139696" y="3054096"/>
            <a:ext cx="374904" cy="37490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41" name="lim 4-5"/>
          <p:cNvSpPr/>
          <p:nvPr/>
        </p:nvSpPr>
        <p:spPr>
          <a:xfrm>
            <a:off x="2560320" y="3054096"/>
            <a:ext cx="374904" cy="374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2" name="lim 4-6"/>
          <p:cNvSpPr/>
          <p:nvPr/>
        </p:nvSpPr>
        <p:spPr>
          <a:xfrm>
            <a:off x="2980944" y="3054096"/>
            <a:ext cx="374904" cy="374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3" name="lim 4-7"/>
          <p:cNvSpPr/>
          <p:nvPr/>
        </p:nvSpPr>
        <p:spPr>
          <a:xfrm>
            <a:off x="3401568" y="3054096"/>
            <a:ext cx="374904" cy="37490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44" name="lim 5-0"/>
          <p:cNvSpPr/>
          <p:nvPr/>
        </p:nvSpPr>
        <p:spPr>
          <a:xfrm>
            <a:off x="457200" y="3474720"/>
            <a:ext cx="374904" cy="37490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45" name="lim 5-1"/>
          <p:cNvSpPr/>
          <p:nvPr/>
        </p:nvSpPr>
        <p:spPr>
          <a:xfrm>
            <a:off x="877824" y="3474720"/>
            <a:ext cx="374904" cy="37490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46" name="lim 5-2"/>
          <p:cNvSpPr/>
          <p:nvPr/>
        </p:nvSpPr>
        <p:spPr>
          <a:xfrm>
            <a:off x="1298448" y="3474720"/>
            <a:ext cx="374904" cy="374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7" name="lim 5-3"/>
          <p:cNvSpPr/>
          <p:nvPr/>
        </p:nvSpPr>
        <p:spPr>
          <a:xfrm>
            <a:off x="1719072" y="3474720"/>
            <a:ext cx="374904" cy="374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8" name="lim 5-4"/>
          <p:cNvSpPr/>
          <p:nvPr/>
        </p:nvSpPr>
        <p:spPr>
          <a:xfrm>
            <a:off x="2139696" y="3474720"/>
            <a:ext cx="374904" cy="374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9" name="lim 5-5"/>
          <p:cNvSpPr/>
          <p:nvPr/>
        </p:nvSpPr>
        <p:spPr>
          <a:xfrm>
            <a:off x="2560320" y="3474720"/>
            <a:ext cx="374904" cy="374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0" name="lim 5-6"/>
          <p:cNvSpPr/>
          <p:nvPr/>
        </p:nvSpPr>
        <p:spPr>
          <a:xfrm>
            <a:off x="2980944" y="3474720"/>
            <a:ext cx="374904" cy="37490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51" name="lim 5-7"/>
          <p:cNvSpPr/>
          <p:nvPr/>
        </p:nvSpPr>
        <p:spPr>
          <a:xfrm>
            <a:off x="3401568" y="3474720"/>
            <a:ext cx="374904" cy="37490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52" name="Shape 50"/>
          <p:cNvSpPr/>
          <p:nvPr/>
        </p:nvSpPr>
        <p:spPr>
          <a:xfrm>
            <a:off x="365760" y="2610612"/>
            <a:ext cx="3547872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dash"/>
          </a:ln>
        </p:spPr>
      </p:sp>
      <p:sp>
        <p:nvSpPr>
          <p:cNvPr id="53" name="Text 51"/>
          <p:cNvSpPr txBox="1"/>
          <p:nvPr/>
        </p:nvSpPr>
        <p:spPr>
          <a:xfrm>
            <a:off x="4206240" y="1371600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Cada thread só olha vizinhos com ini ≤ linha &lt; fim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parte do objeto na faixa de baixo é trabalho da outra thread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Resultado: o objeto central vira 2 componentes locais (rótulos 10 e 28)</a:t>
            </a:r>
            <a:endParaRPr lang="en-US" sz="1500" dirty="0"/>
          </a:p>
        </p:txBody>
      </p:sp>
      <p:sp>
        <p:nvSpPr>
          <p:cNvPr id="54" name="Codigo"/>
          <p:cNvSpPr/>
          <p:nvPr/>
        </p:nvSpPr>
        <p:spPr>
          <a:xfrm>
            <a:off x="4206240" y="3520440"/>
            <a:ext cx="4480560" cy="640080"/>
          </a:xfrm>
          <a:prstGeom prst="roundRect">
            <a:avLst>
              <a:gd name="adj" fmla="val 17143"/>
            </a:avLst>
          </a:prstGeom>
          <a:solidFill>
            <a:schemeClr val="tx1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4343400" y="35204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(nl &lt; ini || nl &gt;= fim || ...) continue;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ao"/>
          <p:cNvSpPr txBox="1"/>
          <p:nvPr/>
        </p:nvSpPr>
        <p:spPr>
          <a:xfrm>
            <a:off x="457200" y="1097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SOLUÇÃO PARALELA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Compartilhamento e sincronização</a:t>
            </a:r>
            <a:endParaRPr lang="en-US" sz="3000" dirty="0"/>
          </a:p>
        </p:txBody>
      </p:sp>
      <p:graphicFrame>
        <p:nvGraphicFramePr>
          <p:cNvPr id="15" name="Tabela acess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é acessado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Matriz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Somente leitura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Rótulos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Escrita apenas na faixa da thread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Union-find (pai)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thread escreve só nos próprios rótulos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Pilha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Uma por thread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 local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Lido após pthread_join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Faixa rodape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/>
        </p:spPr>
      </p:sp>
      <p:sp>
        <p:nvSpPr>
          <p:cNvPr id="6" name="Texto rodape"/>
          <p:cNvSpPr txBox="1"/>
          <p:nvPr/>
        </p:nvSpPr>
        <p:spPr>
          <a:xfrm>
            <a:off x="731520" y="38404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Paralelo: fase 1, uma faixa por thread. Sequencial: joins e consolidação (thread principal). Sem mutexes.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ao"/>
          <p:cNvSpPr txBox="1"/>
          <p:nvPr/>
        </p:nvSpPr>
        <p:spPr>
          <a:xfrm>
            <a:off x="457200" y="1097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SOLUÇÃO PARALELA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 problema: objeto cortado ao meio</a:t>
            </a:r>
            <a:endParaRPr lang="en-US" sz="3000" dirty="0"/>
          </a:p>
        </p:txBody>
      </p:sp>
      <p:sp>
        <p:nvSpPr>
          <p:cNvPr id="4" name="cort 0-0"/>
          <p:cNvSpPr/>
          <p:nvPr/>
        </p:nvSpPr>
        <p:spPr>
          <a:xfrm>
            <a:off x="548640" y="1371600"/>
            <a:ext cx="502920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cort 0-1"/>
          <p:cNvSpPr/>
          <p:nvPr/>
        </p:nvSpPr>
        <p:spPr>
          <a:xfrm>
            <a:off x="1097280" y="1371600"/>
            <a:ext cx="502920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cort 0-2"/>
          <p:cNvSpPr/>
          <p:nvPr/>
        </p:nvSpPr>
        <p:spPr>
          <a:xfrm>
            <a:off x="1645920" y="1371600"/>
            <a:ext cx="502920" cy="502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cort 0-3"/>
          <p:cNvSpPr/>
          <p:nvPr/>
        </p:nvSpPr>
        <p:spPr>
          <a:xfrm>
            <a:off x="2194560" y="1371600"/>
            <a:ext cx="502920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cort 0-4"/>
          <p:cNvSpPr/>
          <p:nvPr/>
        </p:nvSpPr>
        <p:spPr>
          <a:xfrm>
            <a:off x="2743200" y="1371600"/>
            <a:ext cx="502920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cort 1-0"/>
          <p:cNvSpPr/>
          <p:nvPr/>
        </p:nvSpPr>
        <p:spPr>
          <a:xfrm>
            <a:off x="548640" y="1920240"/>
            <a:ext cx="502920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cort 1-1"/>
          <p:cNvSpPr/>
          <p:nvPr/>
        </p:nvSpPr>
        <p:spPr>
          <a:xfrm>
            <a:off x="1097280" y="1920240"/>
            <a:ext cx="502920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cort 1-2"/>
          <p:cNvSpPr/>
          <p:nvPr/>
        </p:nvSpPr>
        <p:spPr>
          <a:xfrm>
            <a:off x="1645920" y="1920240"/>
            <a:ext cx="502920" cy="502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cort 1-3"/>
          <p:cNvSpPr/>
          <p:nvPr/>
        </p:nvSpPr>
        <p:spPr>
          <a:xfrm>
            <a:off x="2194560" y="1920240"/>
            <a:ext cx="502920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cort 1-4"/>
          <p:cNvSpPr/>
          <p:nvPr/>
        </p:nvSpPr>
        <p:spPr>
          <a:xfrm>
            <a:off x="2743200" y="1920240"/>
            <a:ext cx="502920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cort 2-0"/>
          <p:cNvSpPr/>
          <p:nvPr/>
        </p:nvSpPr>
        <p:spPr>
          <a:xfrm>
            <a:off x="548640" y="2468880"/>
            <a:ext cx="502920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5" name="cort 2-1"/>
          <p:cNvSpPr/>
          <p:nvPr/>
        </p:nvSpPr>
        <p:spPr>
          <a:xfrm>
            <a:off x="1097280" y="2468880"/>
            <a:ext cx="502920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cort 2-2"/>
          <p:cNvSpPr/>
          <p:nvPr/>
        </p:nvSpPr>
        <p:spPr>
          <a:xfrm>
            <a:off x="1645920" y="2468880"/>
            <a:ext cx="502920" cy="5029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7" name="cort 2-3"/>
          <p:cNvSpPr/>
          <p:nvPr/>
        </p:nvSpPr>
        <p:spPr>
          <a:xfrm>
            <a:off x="2194560" y="2468880"/>
            <a:ext cx="502920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8" name="cort 2-4"/>
          <p:cNvSpPr/>
          <p:nvPr/>
        </p:nvSpPr>
        <p:spPr>
          <a:xfrm>
            <a:off x="2743200" y="2468880"/>
            <a:ext cx="502920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cort 3-0"/>
          <p:cNvSpPr/>
          <p:nvPr/>
        </p:nvSpPr>
        <p:spPr>
          <a:xfrm>
            <a:off x="548640" y="3017520"/>
            <a:ext cx="502920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0" name="cort 3-1"/>
          <p:cNvSpPr/>
          <p:nvPr/>
        </p:nvSpPr>
        <p:spPr>
          <a:xfrm>
            <a:off x="1097280" y="3017520"/>
            <a:ext cx="502920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1" name="cort 3-2"/>
          <p:cNvSpPr/>
          <p:nvPr/>
        </p:nvSpPr>
        <p:spPr>
          <a:xfrm>
            <a:off x="1645920" y="3017520"/>
            <a:ext cx="502920" cy="5029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2" name="cort 3-3"/>
          <p:cNvSpPr/>
          <p:nvPr/>
        </p:nvSpPr>
        <p:spPr>
          <a:xfrm>
            <a:off x="2194560" y="3017520"/>
            <a:ext cx="502920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3" name="cort 3-4"/>
          <p:cNvSpPr/>
          <p:nvPr/>
        </p:nvSpPr>
        <p:spPr>
          <a:xfrm>
            <a:off x="2743200" y="3017520"/>
            <a:ext cx="502920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2446020"/>
            <a:ext cx="292608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dash"/>
          </a:ln>
        </p:spPr>
      </p:sp>
      <p:sp>
        <p:nvSpPr>
          <p:cNvPr id="25" name="Cont 0"/>
          <p:cNvSpPr/>
          <p:nvPr/>
        </p:nvSpPr>
        <p:spPr>
          <a:xfrm>
            <a:off x="3931920" y="1371600"/>
            <a:ext cx="475488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114800" y="137160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Thread 0: 1 componente</a:t>
            </a:r>
            <a:endParaRPr lang="en-US" sz="1800" dirty="0"/>
          </a:p>
        </p:txBody>
      </p:sp>
      <p:sp>
        <p:nvSpPr>
          <p:cNvPr id="27" name="Cont 1"/>
          <p:cNvSpPr/>
          <p:nvPr/>
        </p:nvSpPr>
        <p:spPr>
          <a:xfrm>
            <a:off x="3931920" y="2240280"/>
            <a:ext cx="475488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114800" y="22402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Thread 1: 1 componente</a:t>
            </a:r>
            <a:endParaRPr lang="en-US" sz="1800" dirty="0"/>
          </a:p>
        </p:txBody>
      </p:sp>
      <p:sp>
        <p:nvSpPr>
          <p:cNvPr id="29" name="Cont 2"/>
          <p:cNvSpPr/>
          <p:nvPr/>
        </p:nvSpPr>
        <p:spPr>
          <a:xfrm>
            <a:off x="3931920" y="3108960"/>
            <a:ext cx="475488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114800" y="310896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Soma: 2, mas existe 1 objeto</a:t>
            </a:r>
            <a:endParaRPr lang="en-US" sz="1800" dirty="0"/>
          </a:p>
        </p:txBody>
      </p:sp>
      <p:sp>
        <p:nvSpPr>
          <p:cNvPr id="31" name="Faixa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17143"/>
            </a:avLst>
          </a:prstGeom>
          <a:solidFill>
            <a:schemeClr val="tx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31520" y="39319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É preciso reconhecer que os dois componentes são o mesmo objeto.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ao"/>
          <p:cNvSpPr txBox="1"/>
          <p:nvPr/>
        </p:nvSpPr>
        <p:spPr>
          <a:xfrm>
            <a:off x="457200" y="1097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SOLUÇÃO PARALELA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Como unir objetos que cruzam fronteiras</a:t>
            </a:r>
            <a:endParaRPr lang="en-US" sz="3000" dirty="0"/>
          </a:p>
        </p:txBody>
      </p:sp>
      <p:sp>
        <p:nvSpPr>
          <p:cNvPr id="4" name="frontEx 0-0"/>
          <p:cNvSpPr/>
          <p:nvPr/>
        </p:nvSpPr>
        <p:spPr>
          <a:xfrm>
            <a:off x="457200" y="1280160"/>
            <a:ext cx="374904" cy="374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frontEx 0-1"/>
          <p:cNvSpPr/>
          <p:nvPr/>
        </p:nvSpPr>
        <p:spPr>
          <a:xfrm>
            <a:off x="877824" y="1280160"/>
            <a:ext cx="374904" cy="374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frontEx 0-2"/>
          <p:cNvSpPr/>
          <p:nvPr/>
        </p:nvSpPr>
        <p:spPr>
          <a:xfrm>
            <a:off x="1298448" y="1280160"/>
            <a:ext cx="374904" cy="374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frontEx 0-3"/>
          <p:cNvSpPr/>
          <p:nvPr/>
        </p:nvSpPr>
        <p:spPr>
          <a:xfrm>
            <a:off x="1719072" y="1280160"/>
            <a:ext cx="374904" cy="374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frontEx 0-4"/>
          <p:cNvSpPr/>
          <p:nvPr/>
        </p:nvSpPr>
        <p:spPr>
          <a:xfrm>
            <a:off x="2139696" y="1280160"/>
            <a:ext cx="374904" cy="374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frontEx 0-5"/>
          <p:cNvSpPr/>
          <p:nvPr/>
        </p:nvSpPr>
        <p:spPr>
          <a:xfrm>
            <a:off x="2560320" y="1280160"/>
            <a:ext cx="374904" cy="374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frontEx 0-6"/>
          <p:cNvSpPr/>
          <p:nvPr/>
        </p:nvSpPr>
        <p:spPr>
          <a:xfrm>
            <a:off x="2980944" y="1280160"/>
            <a:ext cx="374904" cy="37490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frontEx 0-7"/>
          <p:cNvSpPr/>
          <p:nvPr/>
        </p:nvSpPr>
        <p:spPr>
          <a:xfrm>
            <a:off x="3401568" y="1280160"/>
            <a:ext cx="374904" cy="37490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frontEx 1-0"/>
          <p:cNvSpPr/>
          <p:nvPr/>
        </p:nvSpPr>
        <p:spPr>
          <a:xfrm>
            <a:off x="457200" y="1700784"/>
            <a:ext cx="374904" cy="374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frontEx 1-1"/>
          <p:cNvSpPr/>
          <p:nvPr/>
        </p:nvSpPr>
        <p:spPr>
          <a:xfrm>
            <a:off x="877824" y="1700784"/>
            <a:ext cx="374904" cy="37490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4" name="frontEx 1-2"/>
          <p:cNvSpPr/>
          <p:nvPr/>
        </p:nvSpPr>
        <p:spPr>
          <a:xfrm>
            <a:off x="1298448" y="1700784"/>
            <a:ext cx="374904" cy="37490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5" name="frontEx 1-3"/>
          <p:cNvSpPr/>
          <p:nvPr/>
        </p:nvSpPr>
        <p:spPr>
          <a:xfrm>
            <a:off x="1719072" y="1700784"/>
            <a:ext cx="374904" cy="37490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6" name="frontEx 1-4"/>
          <p:cNvSpPr/>
          <p:nvPr/>
        </p:nvSpPr>
        <p:spPr>
          <a:xfrm>
            <a:off x="2139696" y="1700784"/>
            <a:ext cx="374904" cy="37490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7" name="frontEx 1-5"/>
          <p:cNvSpPr/>
          <p:nvPr/>
        </p:nvSpPr>
        <p:spPr>
          <a:xfrm>
            <a:off x="2560320" y="1700784"/>
            <a:ext cx="374904" cy="374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8" name="frontEx 1-6"/>
          <p:cNvSpPr/>
          <p:nvPr/>
        </p:nvSpPr>
        <p:spPr>
          <a:xfrm>
            <a:off x="2980944" y="1700784"/>
            <a:ext cx="374904" cy="37490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9" name="frontEx 1-7"/>
          <p:cNvSpPr/>
          <p:nvPr/>
        </p:nvSpPr>
        <p:spPr>
          <a:xfrm>
            <a:off x="3401568" y="1700784"/>
            <a:ext cx="374904" cy="374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0" name="frontEx 2-0"/>
          <p:cNvSpPr/>
          <p:nvPr/>
        </p:nvSpPr>
        <p:spPr>
          <a:xfrm>
            <a:off x="457200" y="2121408"/>
            <a:ext cx="374904" cy="374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1" name="frontEx 2-1"/>
          <p:cNvSpPr/>
          <p:nvPr/>
        </p:nvSpPr>
        <p:spPr>
          <a:xfrm>
            <a:off x="877824" y="2121408"/>
            <a:ext cx="374904" cy="374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frontEx 2-2"/>
          <p:cNvSpPr/>
          <p:nvPr/>
        </p:nvSpPr>
        <p:spPr>
          <a:xfrm>
            <a:off x="1298448" y="2121408"/>
            <a:ext cx="374904" cy="37490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3" name="frontEx 2-3"/>
          <p:cNvSpPr/>
          <p:nvPr/>
        </p:nvSpPr>
        <p:spPr>
          <a:xfrm>
            <a:off x="1719072" y="2121408"/>
            <a:ext cx="374904" cy="37490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4" name="frontEx 2-4"/>
          <p:cNvSpPr/>
          <p:nvPr/>
        </p:nvSpPr>
        <p:spPr>
          <a:xfrm>
            <a:off x="2139696" y="2121408"/>
            <a:ext cx="374904" cy="374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5" name="frontEx 2-5"/>
          <p:cNvSpPr/>
          <p:nvPr/>
        </p:nvSpPr>
        <p:spPr>
          <a:xfrm>
            <a:off x="2560320" y="2121408"/>
            <a:ext cx="374904" cy="374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6" name="frontEx 2-6"/>
          <p:cNvSpPr/>
          <p:nvPr/>
        </p:nvSpPr>
        <p:spPr>
          <a:xfrm>
            <a:off x="2980944" y="2121408"/>
            <a:ext cx="374904" cy="374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7" name="frontEx 2-7"/>
          <p:cNvSpPr/>
          <p:nvPr/>
        </p:nvSpPr>
        <p:spPr>
          <a:xfrm>
            <a:off x="3401568" y="2121408"/>
            <a:ext cx="374904" cy="374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8" name="frontEx 3-0"/>
          <p:cNvSpPr/>
          <p:nvPr/>
        </p:nvSpPr>
        <p:spPr>
          <a:xfrm>
            <a:off x="457200" y="2542032"/>
            <a:ext cx="374904" cy="374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9" name="frontEx 3-1"/>
          <p:cNvSpPr/>
          <p:nvPr/>
        </p:nvSpPr>
        <p:spPr>
          <a:xfrm>
            <a:off x="877824" y="2542032"/>
            <a:ext cx="374904" cy="374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0" name="frontEx 3-2"/>
          <p:cNvSpPr/>
          <p:nvPr/>
        </p:nvSpPr>
        <p:spPr>
          <a:xfrm>
            <a:off x="1298448" y="2542032"/>
            <a:ext cx="374904" cy="374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1" name="frontEx 3-3"/>
          <p:cNvSpPr/>
          <p:nvPr/>
        </p:nvSpPr>
        <p:spPr>
          <a:xfrm>
            <a:off x="1719072" y="2542032"/>
            <a:ext cx="374904" cy="37490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2" name="frontEx 3-4"/>
          <p:cNvSpPr/>
          <p:nvPr/>
        </p:nvSpPr>
        <p:spPr>
          <a:xfrm>
            <a:off x="2139696" y="2542032"/>
            <a:ext cx="374904" cy="37490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3" name="frontEx 3-5"/>
          <p:cNvSpPr/>
          <p:nvPr/>
        </p:nvSpPr>
        <p:spPr>
          <a:xfrm>
            <a:off x="2560320" y="2542032"/>
            <a:ext cx="374904" cy="374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4" name="frontEx 3-6"/>
          <p:cNvSpPr/>
          <p:nvPr/>
        </p:nvSpPr>
        <p:spPr>
          <a:xfrm>
            <a:off x="2980944" y="2542032"/>
            <a:ext cx="374904" cy="374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5" name="frontEx 3-7"/>
          <p:cNvSpPr/>
          <p:nvPr/>
        </p:nvSpPr>
        <p:spPr>
          <a:xfrm>
            <a:off x="3401568" y="2542032"/>
            <a:ext cx="374904" cy="374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6" name="frontEx 4-0"/>
          <p:cNvSpPr/>
          <p:nvPr/>
        </p:nvSpPr>
        <p:spPr>
          <a:xfrm>
            <a:off x="457200" y="2962656"/>
            <a:ext cx="374904" cy="374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7" name="frontEx 4-1"/>
          <p:cNvSpPr/>
          <p:nvPr/>
        </p:nvSpPr>
        <p:spPr>
          <a:xfrm>
            <a:off x="877824" y="2962656"/>
            <a:ext cx="374904" cy="374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8" name="frontEx 4-2"/>
          <p:cNvSpPr/>
          <p:nvPr/>
        </p:nvSpPr>
        <p:spPr>
          <a:xfrm>
            <a:off x="1298448" y="2962656"/>
            <a:ext cx="374904" cy="374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9" name="frontEx 4-3"/>
          <p:cNvSpPr/>
          <p:nvPr/>
        </p:nvSpPr>
        <p:spPr>
          <a:xfrm>
            <a:off x="1719072" y="2962656"/>
            <a:ext cx="374904" cy="374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0" name="frontEx 4-4"/>
          <p:cNvSpPr/>
          <p:nvPr/>
        </p:nvSpPr>
        <p:spPr>
          <a:xfrm>
            <a:off x="2139696" y="2962656"/>
            <a:ext cx="374904" cy="37490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41" name="frontEx 4-5"/>
          <p:cNvSpPr/>
          <p:nvPr/>
        </p:nvSpPr>
        <p:spPr>
          <a:xfrm>
            <a:off x="2560320" y="2962656"/>
            <a:ext cx="374904" cy="374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2" name="frontEx 4-6"/>
          <p:cNvSpPr/>
          <p:nvPr/>
        </p:nvSpPr>
        <p:spPr>
          <a:xfrm>
            <a:off x="2980944" y="2962656"/>
            <a:ext cx="374904" cy="374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3" name="frontEx 4-7"/>
          <p:cNvSpPr/>
          <p:nvPr/>
        </p:nvSpPr>
        <p:spPr>
          <a:xfrm>
            <a:off x="3401568" y="2962656"/>
            <a:ext cx="374904" cy="37490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44" name="frontEx 5-0"/>
          <p:cNvSpPr/>
          <p:nvPr/>
        </p:nvSpPr>
        <p:spPr>
          <a:xfrm>
            <a:off x="457200" y="3383280"/>
            <a:ext cx="374904" cy="37490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45" name="frontEx 5-1"/>
          <p:cNvSpPr/>
          <p:nvPr/>
        </p:nvSpPr>
        <p:spPr>
          <a:xfrm>
            <a:off x="877824" y="3383280"/>
            <a:ext cx="374904" cy="37490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46" name="frontEx 5-2"/>
          <p:cNvSpPr/>
          <p:nvPr/>
        </p:nvSpPr>
        <p:spPr>
          <a:xfrm>
            <a:off x="1298448" y="3383280"/>
            <a:ext cx="374904" cy="374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7" name="frontEx 5-3"/>
          <p:cNvSpPr/>
          <p:nvPr/>
        </p:nvSpPr>
        <p:spPr>
          <a:xfrm>
            <a:off x="1719072" y="3383280"/>
            <a:ext cx="374904" cy="374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8" name="frontEx 5-4"/>
          <p:cNvSpPr/>
          <p:nvPr/>
        </p:nvSpPr>
        <p:spPr>
          <a:xfrm>
            <a:off x="2139696" y="3383280"/>
            <a:ext cx="374904" cy="374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9" name="frontEx 5-5"/>
          <p:cNvSpPr/>
          <p:nvPr/>
        </p:nvSpPr>
        <p:spPr>
          <a:xfrm>
            <a:off x="2560320" y="3383280"/>
            <a:ext cx="374904" cy="374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0" name="frontEx 5-6"/>
          <p:cNvSpPr/>
          <p:nvPr/>
        </p:nvSpPr>
        <p:spPr>
          <a:xfrm>
            <a:off x="2980944" y="3383280"/>
            <a:ext cx="374904" cy="37490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51" name="frontEx 5-7"/>
          <p:cNvSpPr/>
          <p:nvPr/>
        </p:nvSpPr>
        <p:spPr>
          <a:xfrm>
            <a:off x="3401568" y="3383280"/>
            <a:ext cx="374904" cy="37490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52" name="Fronteira"/>
          <p:cNvSpPr/>
          <p:nvPr/>
        </p:nvSpPr>
        <p:spPr>
          <a:xfrm>
            <a:off x="365760" y="2519172"/>
            <a:ext cx="3547872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dash"/>
          </a:ln>
        </p:spPr>
      </p:sp>
      <p:sp>
        <p:nvSpPr>
          <p:cNvPr id="53" name="Uniao diagonal"/>
          <p:cNvSpPr/>
          <p:nvPr/>
        </p:nvSpPr>
        <p:spPr>
          <a:xfrm>
            <a:off x="1485900" y="2308860"/>
            <a:ext cx="420624" cy="420624"/>
          </a:xfrm>
          <a:prstGeom prst="line">
            <a:avLst/>
          </a:prstGeom>
          <a:noFill/>
          <a:ln w="38100">
            <a:solidFill>
              <a:schemeClr val="accent4"/>
            </a:solidFill>
            <a:prstDash val="solid"/>
          </a:ln>
        </p:spPr>
      </p:sp>
      <p:sp>
        <p:nvSpPr>
          <p:cNvPr id="54" name="Cap superior"/>
          <p:cNvSpPr txBox="1"/>
          <p:nvPr/>
        </p:nvSpPr>
        <p:spPr>
          <a:xfrm>
            <a:off x="4480560" y="12801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Faixa superior: 2 componentes locais</a:t>
            </a:r>
            <a:endParaRPr lang="en-US" sz="1500" dirty="0"/>
          </a:p>
        </p:txBody>
      </p:sp>
      <p:sp>
        <p:nvSpPr>
          <p:cNvPr id="55" name="Cap inferior"/>
          <p:cNvSpPr txBox="1"/>
          <p:nvPr/>
        </p:nvSpPr>
        <p:spPr>
          <a:xfrm>
            <a:off x="4480560" y="24688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Faixa inferior: 3 componentes locais</a:t>
            </a:r>
            <a:endParaRPr lang="en-US" sz="1500" dirty="0"/>
          </a:p>
        </p:txBody>
      </p:sp>
      <p:sp>
        <p:nvSpPr>
          <p:cNvPr id="56" name="Cap uniao"/>
          <p:cNvSpPr txBox="1"/>
          <p:nvPr/>
        </p:nvSpPr>
        <p:spPr>
          <a:xfrm>
            <a:off x="4480560" y="3063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Soma inicial: 5 · uma união efetiva</a:t>
            </a:r>
            <a:endParaRPr lang="en-US" sz="1400" dirty="0"/>
          </a:p>
        </p:txBody>
      </p:sp>
      <p:sp>
        <p:nvSpPr>
          <p:cNvPr id="57" name="Viz centro"/>
          <p:cNvSpPr/>
          <p:nvPr/>
        </p:nvSpPr>
        <p:spPr>
          <a:xfrm>
            <a:off x="7498080" y="1325880"/>
            <a:ext cx="365760" cy="36576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58" name="Viz 0"/>
          <p:cNvSpPr/>
          <p:nvPr/>
        </p:nvSpPr>
        <p:spPr>
          <a:xfrm>
            <a:off x="7086600" y="1737360"/>
            <a:ext cx="365760" cy="3657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9" name="Viz seta 0"/>
          <p:cNvSpPr txBox="1"/>
          <p:nvPr/>
        </p:nvSpPr>
        <p:spPr>
          <a:xfrm>
            <a:off x="708660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↙</a:t>
            </a:r>
            <a:endParaRPr lang="en-US" sz="1600" dirty="0"/>
          </a:p>
        </p:txBody>
      </p:sp>
      <p:sp>
        <p:nvSpPr>
          <p:cNvPr id="60" name="Viz 1"/>
          <p:cNvSpPr/>
          <p:nvPr/>
        </p:nvSpPr>
        <p:spPr>
          <a:xfrm>
            <a:off x="7498080" y="1737360"/>
            <a:ext cx="365760" cy="3657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1" name="Viz seta 1"/>
          <p:cNvSpPr txBox="1"/>
          <p:nvPr/>
        </p:nvSpPr>
        <p:spPr>
          <a:xfrm>
            <a:off x="749808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↓</a:t>
            </a:r>
            <a:endParaRPr lang="en-US" sz="1600" dirty="0"/>
          </a:p>
        </p:txBody>
      </p:sp>
      <p:sp>
        <p:nvSpPr>
          <p:cNvPr id="62" name="Viz 2"/>
          <p:cNvSpPr/>
          <p:nvPr/>
        </p:nvSpPr>
        <p:spPr>
          <a:xfrm>
            <a:off x="7909560" y="1737360"/>
            <a:ext cx="365760" cy="3657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3" name="Viz seta 2"/>
          <p:cNvSpPr txBox="1"/>
          <p:nvPr/>
        </p:nvSpPr>
        <p:spPr>
          <a:xfrm>
            <a:off x="790956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↘</a:t>
            </a:r>
            <a:endParaRPr lang="en-US" sz="1600" dirty="0"/>
          </a:p>
        </p:txBody>
      </p:sp>
      <p:sp>
        <p:nvSpPr>
          <p:cNvPr id="64" name="Cap vizinhos"/>
          <p:cNvSpPr txBox="1"/>
          <p:nvPr/>
        </p:nvSpPr>
        <p:spPr>
          <a:xfrm>
            <a:off x="6995160" y="2148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vizinhos abaixo</a:t>
            </a:r>
            <a:endParaRPr lang="en-US" sz="1100" dirty="0"/>
          </a:p>
        </p:txBody>
      </p:sp>
      <p:sp>
        <p:nvSpPr>
          <p:cNvPr id="65" name="Faixa formula"/>
          <p:cNvSpPr/>
          <p:nvPr/>
        </p:nvSpPr>
        <p:spPr>
          <a:xfrm>
            <a:off x="457200" y="3931920"/>
            <a:ext cx="8229600" cy="777240"/>
          </a:xfrm>
          <a:prstGeom prst="roundRect">
            <a:avLst>
              <a:gd name="adj" fmla="val 14118"/>
            </a:avLst>
          </a:prstGeom>
          <a:solidFill>
            <a:schemeClr val="tx1"/>
          </a:solidFill>
          <a:ln/>
        </p:spPr>
      </p:sp>
      <p:sp>
        <p:nvSpPr>
          <p:cNvPr id="66" name="Texto formula"/>
          <p:cNvSpPr txBox="1"/>
          <p:nvPr/>
        </p:nvSpPr>
        <p:spPr>
          <a:xfrm>
            <a:off x="731520" y="393192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Total = soma das contagens locais − uniões efetivas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Aqui: 5 − 1 = 4 objetos finais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ao"/>
          <p:cNvSpPr txBox="1"/>
          <p:nvPr/>
        </p:nvSpPr>
        <p:spPr>
          <a:xfrm>
            <a:off x="457200" y="1097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SOLUÇÃO PARALELA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Union-find: o registro de grupos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42062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463040"/>
                <a:gridCol w="15544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Rótulo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 (início)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 (após união)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6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6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68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937760" y="1280160"/>
            <a:ext cx="3749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uniao(10, 28)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Raízes diferentes: pai[28] = 10, retorna 1 e o total desce 1.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uniao(10, 28) de novo (outro contato)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Mesma raiz: retorna 0 e nada é descontado.</a:t>
            </a:r>
            <a:endParaRPr lang="en-US" sz="1400" dirty="0"/>
          </a:p>
        </p:txBody>
      </p:sp>
      <p:sp>
        <p:nvSpPr>
          <p:cNvPr id="6" name="Faixa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17143"/>
            </a:avLst>
          </a:prstGeom>
          <a:solidFill>
            <a:schemeClr val="tx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39319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Total: 5 componentes locais − 1 união efetiva = 4 objetos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ao"/>
          <p:cNvSpPr txBox="1"/>
          <p:nvPr/>
        </p:nvSpPr>
        <p:spPr>
          <a:xfrm>
            <a:off x="457200" y="1097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RESULTADOS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Demonstração do programa</a:t>
            </a:r>
            <a:endParaRPr lang="en-US" sz="3000" dirty="0"/>
          </a:p>
        </p:txBody>
      </p:sp>
      <p:sp>
        <p:nvSpPr>
          <p:cNvPr id="4" name="Terminal"/>
          <p:cNvSpPr/>
          <p:nvPr/>
        </p:nvSpPr>
        <p:spPr>
          <a:xfrm>
            <a:off x="457200" y="1325880"/>
            <a:ext cx="5852160" cy="3017520"/>
          </a:xfrm>
          <a:prstGeom prst="roundRect">
            <a:avLst>
              <a:gd name="adj" fmla="val 3636"/>
            </a:avLst>
          </a:prstGeom>
          <a:solidFill>
            <a:schemeClr val="tx1"/>
          </a:solidFill>
          <a:ln/>
        </p:spPr>
      </p:sp>
      <p:sp>
        <p:nvSpPr>
          <p:cNvPr id="5" name="Ponto 0"/>
          <p:cNvSpPr/>
          <p:nvPr/>
        </p:nvSpPr>
        <p:spPr>
          <a:xfrm>
            <a:off x="640080" y="1463040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Ponto 1"/>
          <p:cNvSpPr/>
          <p:nvPr/>
        </p:nvSpPr>
        <p:spPr>
          <a:xfrm>
            <a:off x="868680" y="1463040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Ponto 2"/>
          <p:cNvSpPr/>
          <p:nvPr/>
        </p:nvSpPr>
        <p:spPr>
          <a:xfrm>
            <a:off x="1097280" y="1463040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Comandos"/>
          <p:cNvSpPr txBox="1"/>
          <p:nvPr/>
        </p:nvSpPr>
        <p:spPr>
          <a:xfrm>
            <a:off x="640080" y="1828800"/>
            <a:ext cx="5577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make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./build/sequencial 2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./build/paralelo 2 2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./build/paralelo 2 4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./build/paralelo -f tests/adicionais/em_u.txt 4</a:t>
            </a:r>
            <a:endParaRPr lang="en-US" sz="1400" dirty="0"/>
          </a:p>
        </p:txBody>
      </p:sp>
      <p:sp>
        <p:nvSpPr>
          <p:cNvPr id="9" name="Item 0"/>
          <p:cNvSpPr/>
          <p:nvPr/>
        </p:nvSpPr>
        <p:spPr>
          <a:xfrm>
            <a:off x="6492240" y="1325880"/>
            <a:ext cx="21945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0" name="Icone 0"/>
          <p:cNvSpPr txBox="1"/>
          <p:nvPr/>
        </p:nvSpPr>
        <p:spPr>
          <a:xfrm>
            <a:off x="6537960" y="132588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</a:t>
            </a:r>
            <a:endParaRPr lang="en-US" sz="1200" dirty="0"/>
          </a:p>
        </p:txBody>
      </p:sp>
      <p:sp>
        <p:nvSpPr>
          <p:cNvPr id="11" name="Item txt 0"/>
          <p:cNvSpPr txBox="1"/>
          <p:nvPr/>
        </p:nvSpPr>
        <p:spPr>
          <a:xfrm>
            <a:off x="7178040" y="13258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Compilação</a:t>
            </a:r>
            <a:endParaRPr lang="en-US" sz="1400" dirty="0"/>
          </a:p>
        </p:txBody>
      </p:sp>
      <p:sp>
        <p:nvSpPr>
          <p:cNvPr id="12" name="Item 1"/>
          <p:cNvSpPr/>
          <p:nvPr/>
        </p:nvSpPr>
        <p:spPr>
          <a:xfrm>
            <a:off x="6492240" y="2350008"/>
            <a:ext cx="21945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3" name="Icone 1"/>
          <p:cNvSpPr txBox="1"/>
          <p:nvPr/>
        </p:nvSpPr>
        <p:spPr>
          <a:xfrm>
            <a:off x="6537960" y="2350008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=</a:t>
            </a:r>
            <a:endParaRPr lang="en-US" sz="2200" dirty="0"/>
          </a:p>
        </p:txBody>
      </p:sp>
      <p:sp>
        <p:nvSpPr>
          <p:cNvPr id="14" name="Item txt 1"/>
          <p:cNvSpPr txBox="1"/>
          <p:nvPr/>
        </p:nvSpPr>
        <p:spPr>
          <a:xfrm>
            <a:off x="7178040" y="2350008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Sequencial × paralela</a:t>
            </a:r>
            <a:endParaRPr lang="en-US" sz="1400" dirty="0"/>
          </a:p>
        </p:txBody>
      </p:sp>
      <p:sp>
        <p:nvSpPr>
          <p:cNvPr id="15" name="Item 2"/>
          <p:cNvSpPr/>
          <p:nvPr/>
        </p:nvSpPr>
        <p:spPr>
          <a:xfrm>
            <a:off x="6492240" y="3374136"/>
            <a:ext cx="21945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6" name="Icone 2"/>
          <p:cNvSpPr txBox="1"/>
          <p:nvPr/>
        </p:nvSpPr>
        <p:spPr>
          <a:xfrm>
            <a:off x="6537960" y="3374136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✓</a:t>
            </a:r>
            <a:endParaRPr lang="en-US" sz="2200" dirty="0"/>
          </a:p>
        </p:txBody>
      </p:sp>
      <p:sp>
        <p:nvSpPr>
          <p:cNvPr id="17" name="Item txt 2"/>
          <p:cNvSpPr txBox="1"/>
          <p:nvPr/>
        </p:nvSpPr>
        <p:spPr>
          <a:xfrm>
            <a:off x="7178040" y="3374136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Mesmo resultado com 2 e 4 threads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ao"/>
          <p:cNvSpPr txBox="1"/>
          <p:nvPr/>
        </p:nvSpPr>
        <p:spPr>
          <a:xfrm>
            <a:off x="457200" y="1097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RESULTADOS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Como verificamos a correção</a:t>
            </a:r>
            <a:endParaRPr lang="en-US" sz="3000" dirty="0"/>
          </a:p>
        </p:txBody>
      </p:sp>
      <p:sp>
        <p:nvSpPr>
          <p:cNvPr id="4" name="Stat 0"/>
          <p:cNvSpPr/>
          <p:nvPr/>
        </p:nvSpPr>
        <p:spPr>
          <a:xfrm>
            <a:off x="457200" y="1280160"/>
            <a:ext cx="192024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5" name="Stat num 0"/>
          <p:cNvSpPr txBox="1"/>
          <p:nvPr/>
        </p:nvSpPr>
        <p:spPr>
          <a:xfrm>
            <a:off x="457200" y="13258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800" dirty="0"/>
          </a:p>
        </p:txBody>
      </p:sp>
      <p:sp>
        <p:nvSpPr>
          <p:cNvPr id="6" name="Stat txt 0"/>
          <p:cNvSpPr txBox="1"/>
          <p:nvPr/>
        </p:nvSpPr>
        <p:spPr>
          <a:xfrm>
            <a:off x="548640" y="21031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casos obrigatórios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3, 4, 5, 6 e 7 objetos</a:t>
            </a:r>
            <a:endParaRPr lang="en-US" sz="1400" dirty="0"/>
          </a:p>
        </p:txBody>
      </p:sp>
      <p:sp>
        <p:nvSpPr>
          <p:cNvPr id="7" name="Stat 1"/>
          <p:cNvSpPr/>
          <p:nvPr/>
        </p:nvSpPr>
        <p:spPr>
          <a:xfrm>
            <a:off x="2560320" y="1280160"/>
            <a:ext cx="192024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8" name="Stat num 1"/>
          <p:cNvSpPr txBox="1"/>
          <p:nvPr/>
        </p:nvSpPr>
        <p:spPr>
          <a:xfrm>
            <a:off x="2560320" y="13258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800" dirty="0"/>
          </a:p>
        </p:txBody>
      </p:sp>
      <p:sp>
        <p:nvSpPr>
          <p:cNvPr id="9" name="Stat txt 1"/>
          <p:cNvSpPr txBox="1"/>
          <p:nvPr/>
        </p:nvSpPr>
        <p:spPr>
          <a:xfrm>
            <a:off x="2651760" y="21031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casos adicionais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além dos obrigatórios</a:t>
            </a:r>
            <a:endParaRPr lang="en-US" sz="1400" dirty="0"/>
          </a:p>
        </p:txBody>
      </p:sp>
      <p:sp>
        <p:nvSpPr>
          <p:cNvPr id="10" name="Stat 2"/>
          <p:cNvSpPr/>
          <p:nvPr/>
        </p:nvSpPr>
        <p:spPr>
          <a:xfrm>
            <a:off x="4663440" y="1280160"/>
            <a:ext cx="192024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1" name="Stat num 2"/>
          <p:cNvSpPr txBox="1"/>
          <p:nvPr/>
        </p:nvSpPr>
        <p:spPr>
          <a:xfrm>
            <a:off x="4663440" y="13258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800" dirty="0"/>
          </a:p>
        </p:txBody>
      </p:sp>
      <p:sp>
        <p:nvSpPr>
          <p:cNvPr id="12" name="Stat txt 2"/>
          <p:cNvSpPr txBox="1"/>
          <p:nvPr/>
        </p:nvSpPr>
        <p:spPr>
          <a:xfrm>
            <a:off x="4754880" y="21031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contagens de threads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1, 2, 3, 4 e 8</a:t>
            </a:r>
            <a:endParaRPr lang="en-US" sz="1400" dirty="0"/>
          </a:p>
        </p:txBody>
      </p:sp>
      <p:sp>
        <p:nvSpPr>
          <p:cNvPr id="13" name="Stat 3"/>
          <p:cNvSpPr/>
          <p:nvPr/>
        </p:nvSpPr>
        <p:spPr>
          <a:xfrm>
            <a:off x="6766560" y="1280160"/>
            <a:ext cx="192024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4" name="Stat num 3"/>
          <p:cNvSpPr txBox="1"/>
          <p:nvPr/>
        </p:nvSpPr>
        <p:spPr>
          <a:xfrm>
            <a:off x="6766560" y="13258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800" dirty="0"/>
          </a:p>
        </p:txBody>
      </p:sp>
      <p:sp>
        <p:nvSpPr>
          <p:cNvPr id="15" name="Stat txt 3"/>
          <p:cNvSpPr txBox="1"/>
          <p:nvPr/>
        </p:nvSpPr>
        <p:spPr>
          <a:xfrm>
            <a:off x="6858000" y="21031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erros nos sanitizadores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segundo as verificações registradas</a:t>
            </a:r>
            <a:endParaRPr lang="en-US" sz="1400" dirty="0"/>
          </a:p>
        </p:txBody>
      </p:sp>
      <p:sp>
        <p:nvSpPr>
          <p:cNvPr id="16" name="Rotulo destaques"/>
          <p:cNvSpPr txBox="1"/>
          <p:nvPr/>
        </p:nvSpPr>
        <p:spPr>
          <a:xfrm>
            <a:off x="457200" y="3474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Casos de destaque</a:t>
            </a:r>
            <a:endParaRPr lang="en-US" sz="1400" dirty="0"/>
          </a:p>
        </p:txBody>
      </p:sp>
      <p:sp>
        <p:nvSpPr>
          <p:cNvPr id="17" name="Pilula xadrez"/>
          <p:cNvSpPr/>
          <p:nvPr/>
        </p:nvSpPr>
        <p:spPr>
          <a:xfrm>
            <a:off x="2468880" y="3474720"/>
            <a:ext cx="109728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8" name="Pilula txt xadrez"/>
          <p:cNvSpPr txBox="1"/>
          <p:nvPr/>
        </p:nvSpPr>
        <p:spPr>
          <a:xfrm>
            <a:off x="2468880" y="34747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xadrez</a:t>
            </a:r>
            <a:endParaRPr lang="en-US" sz="1400" dirty="0"/>
          </a:p>
        </p:txBody>
      </p:sp>
      <p:sp>
        <p:nvSpPr>
          <p:cNvPr id="19" name="Pilula diagonais"/>
          <p:cNvSpPr/>
          <p:nvPr/>
        </p:nvSpPr>
        <p:spPr>
          <a:xfrm>
            <a:off x="3657600" y="3474720"/>
            <a:ext cx="128016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0" name="Pilula txt diagonais"/>
          <p:cNvSpPr txBox="1"/>
          <p:nvPr/>
        </p:nvSpPr>
        <p:spPr>
          <a:xfrm>
            <a:off x="3657600" y="3474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diagonais</a:t>
            </a:r>
            <a:endParaRPr lang="en-US" sz="1400" dirty="0"/>
          </a:p>
        </p:txBody>
      </p:sp>
      <p:sp>
        <p:nvSpPr>
          <p:cNvPr id="21" name="Pilula U"/>
          <p:cNvSpPr/>
          <p:nvPr/>
        </p:nvSpPr>
        <p:spPr>
          <a:xfrm>
            <a:off x="5029200" y="3474720"/>
            <a:ext cx="64008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2" name="Pilula txt U"/>
          <p:cNvSpPr txBox="1"/>
          <p:nvPr/>
        </p:nvSpPr>
        <p:spPr>
          <a:xfrm>
            <a:off x="5029200" y="34747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U</a:t>
            </a:r>
            <a:endParaRPr lang="en-US" sz="1400" dirty="0"/>
          </a:p>
        </p:txBody>
      </p:sp>
      <p:sp>
        <p:nvSpPr>
          <p:cNvPr id="23" name="Pilula linha única"/>
          <p:cNvSpPr/>
          <p:nvPr/>
        </p:nvSpPr>
        <p:spPr>
          <a:xfrm>
            <a:off x="5760720" y="3474720"/>
            <a:ext cx="137160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4" name="Pilula txt linha única"/>
          <p:cNvSpPr txBox="1"/>
          <p:nvPr/>
        </p:nvSpPr>
        <p:spPr>
          <a:xfrm>
            <a:off x="5760720" y="3474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linha única</a:t>
            </a:r>
            <a:endParaRPr lang="en-US" sz="1400" dirty="0"/>
          </a:p>
        </p:txBody>
      </p:sp>
      <p:sp>
        <p:nvSpPr>
          <p:cNvPr id="25" name="Nota python"/>
          <p:cNvSpPr txBox="1"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matriz grande teve a contagem conferida por uma implementação independente em Python.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ao"/>
          <p:cNvSpPr txBox="1"/>
          <p:nvPr/>
        </p:nvSpPr>
        <p:spPr>
          <a:xfrm>
            <a:off x="457200" y="1097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RESULTADOS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Como medimos o desempenho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28016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Mesma matriz (2000×2000, oito objetos) em todas as configurações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93852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1938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938528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Um aquecimento descartado e mediana de dez execuções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596896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5968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596896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Tempo da contagem: inclui criar e esperar as threads, sem ler o arquivo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255264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32552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255264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1, 2, 4, 6, 8 e 12 threads (CPU com 6 núcleos físicos e 12 lógicos)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91363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3913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91363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Aceleração S = Tsequencial / Tparalelo  ·  Eficiência E = S / threads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ao"/>
          <p:cNvSpPr txBox="1"/>
          <p:nvPr/>
        </p:nvSpPr>
        <p:spPr>
          <a:xfrm>
            <a:off x="457200" y="1097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RESULTADOS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Aceleração observada</a:t>
            </a:r>
            <a:endParaRPr lang="en-US" sz="3000" dirty="0"/>
          </a:p>
        </p:txBody>
      </p:sp>
      <p:pic>
        <p:nvPicPr>
          <p:cNvPr id="4" name="Grafico aceleracao" descr="Gráfico de aceleração observada versus ideal por número de threa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34440"/>
            <a:ext cx="4480560" cy="2492402"/>
          </a:xfrm>
          <a:prstGeom prst="rect">
            <a:avLst/>
          </a:prstGeom>
        </p:spPr>
      </p:pic>
      <p:graphicFrame>
        <p:nvGraphicFramePr>
          <p:cNvPr id="22" name="Tabela desempenh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280160"/>
          <a:ext cx="3657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31520"/>
                <a:gridCol w="914400"/>
                <a:gridCol w="10058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Aceleração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Sequencial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5,3 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Paralela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6,3 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0,84×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Paralela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2,9 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1,85×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Paralela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6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6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2,5 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6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2,16×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68A"/>
                    </a:solidFill>
                  </a:tcPr>
                </a:tc>
              </a:tr>
            </a:tbl>
          </a:graphicData>
        </a:graphic>
      </p:graphicFrame>
      <p:sp>
        <p:nvSpPr>
          <p:cNvPr id="6" name="Eficiencia"/>
          <p:cNvSpPr txBox="1"/>
          <p:nvPr/>
        </p:nvSpPr>
        <p:spPr>
          <a:xfrm>
            <a:off x="5029200" y="3337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Eficiência com 12 threads: 0,18</a:t>
            </a:r>
            <a:endParaRPr lang="en-US" sz="1400" dirty="0"/>
          </a:p>
        </p:txBody>
      </p:sp>
      <p:sp>
        <p:nvSpPr>
          <p:cNvPr id="7" name="Notas esq"/>
          <p:cNvSpPr txBox="1"/>
          <p:nvPr/>
        </p:nvSpPr>
        <p:spPr>
          <a:xfrm>
            <a:off x="365760" y="40233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Matriz 2000×2000, oito objetos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Xeon: seis núcleos físicos e 12 processadores lógicos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Um aquecimento descartado; mediana de dez execuções</a:t>
            </a:r>
            <a:endParaRPr lang="en-US" sz="1100" dirty="0"/>
          </a:p>
        </p:txBody>
      </p:sp>
      <p:sp>
        <p:nvSpPr>
          <p:cNvPr id="8" name="Notas dir"/>
          <p:cNvSpPr txBox="1"/>
          <p:nvPr/>
        </p:nvSpPr>
        <p:spPr>
          <a:xfrm>
            <a:off x="5303520" y="40233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Tempo da contagem, sem leitura do arquivo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S = Tsequencial / Tparalelo;  E = S / threads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ao"/>
          <p:cNvSpPr txBox="1"/>
          <p:nvPr/>
        </p:nvSpPr>
        <p:spPr>
          <a:xfrm>
            <a:off x="457200" y="1097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RESULTADOS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Tempo e eficiência</a:t>
            </a:r>
            <a:endParaRPr lang="en-US" sz="3000" dirty="0"/>
          </a:p>
        </p:txBody>
      </p:sp>
      <p:pic>
        <p:nvPicPr>
          <p:cNvPr id="4" name="Image 0" descr="Gráfico do tempo de contagem (mediana) por configuraçã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80160"/>
            <a:ext cx="4114800" cy="2300034"/>
          </a:xfrm>
          <a:prstGeom prst="rect">
            <a:avLst/>
          </a:prstGeom>
        </p:spPr>
      </p:pic>
      <p:pic>
        <p:nvPicPr>
          <p:cNvPr id="5" name="Image 1" descr="Gráfico da eficiência por número de thread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280160"/>
            <a:ext cx="4114800" cy="22947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65760" y="3749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Tempo (mediana) por configuração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4663440" y="3749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Eficiência E(p) = S(p) / p</a:t>
            </a:r>
            <a:endParaRPr lang="en-US" sz="1200" dirty="0"/>
          </a:p>
        </p:txBody>
      </p:sp>
      <p:sp>
        <p:nvSpPr>
          <p:cNvPr id="8" name="Faixa"/>
          <p:cNvSpPr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31520" y="4114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 eficiência cai de 0,84 (1 thread) para 0,18 (12 threads).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ao"/>
          <p:cNvSpPr txBox="1"/>
          <p:nvPr/>
        </p:nvSpPr>
        <p:spPr>
          <a:xfrm>
            <a:off x="457200" y="1097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RESULTADOS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Por que 12 threads não dão 12×</a:t>
            </a:r>
            <a:endParaRPr lang="en-US" sz="3000" dirty="0"/>
          </a:p>
        </p:txBody>
      </p:sp>
      <p:sp>
        <p:nvSpPr>
          <p:cNvPr id="4" name="Limite 0"/>
          <p:cNvSpPr/>
          <p:nvPr/>
        </p:nvSpPr>
        <p:spPr>
          <a:xfrm>
            <a:off x="457200" y="128016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Sobrecarga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Criar e esperar threads; rótulos e pai usam mais memória que o visitado.</a:t>
            </a:r>
            <a:endParaRPr lang="en-US" sz="1400" dirty="0"/>
          </a:p>
        </p:txBody>
      </p:sp>
      <p:sp>
        <p:nvSpPr>
          <p:cNvPr id="6" name="Limite 1"/>
          <p:cNvSpPr/>
          <p:nvPr/>
        </p:nvSpPr>
        <p:spPr>
          <a:xfrm>
            <a:off x="4663440" y="128016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46320" y="128016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Trabalho desigual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 faixas têm o mesmo número de linhas, mas não de células de objeto.</a:t>
            </a:r>
            <a:endParaRPr lang="en-US" sz="1400" dirty="0"/>
          </a:p>
        </p:txBody>
      </p:sp>
      <p:sp>
        <p:nvSpPr>
          <p:cNvPr id="8" name="Limite 2"/>
          <p:cNvSpPr/>
          <p:nvPr/>
        </p:nvSpPr>
        <p:spPr>
          <a:xfrm>
            <a:off x="457200" y="288036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88036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Memória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acesso à memória pode limitar o ganho.</a:t>
            </a:r>
            <a:endParaRPr lang="en-US" sz="1400" dirty="0"/>
          </a:p>
        </p:txBody>
      </p:sp>
      <p:sp>
        <p:nvSpPr>
          <p:cNvPr id="10" name="Limite 3"/>
          <p:cNvSpPr/>
          <p:nvPr/>
        </p:nvSpPr>
        <p:spPr>
          <a:xfrm>
            <a:off x="4663440" y="288036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46320" y="288036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Núcleos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Só 6 físicos (12 lógicos) e a fase 2 é sequencial.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ao"/>
          <p:cNvSpPr txBox="1"/>
          <p:nvPr/>
        </p:nvSpPr>
        <p:spPr>
          <a:xfrm>
            <a:off x="457200" y="1097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RESULTADOS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Conclusões e melhorias</a:t>
            </a:r>
            <a:endParaRPr lang="en-US" sz="3000" dirty="0"/>
          </a:p>
        </p:txBody>
      </p:sp>
      <p:sp>
        <p:nvSpPr>
          <p:cNvPr id="4" name="Check 0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Check txt 0"/>
          <p:cNvSpPr txBox="1"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✓</a:t>
            </a:r>
            <a:endParaRPr lang="en-US" sz="1800" dirty="0"/>
          </a:p>
        </p:txBody>
      </p:sp>
      <p:sp>
        <p:nvSpPr>
          <p:cNvPr id="6" name="Ponto 0"/>
          <p:cNvSpPr txBox="1"/>
          <p:nvPr/>
        </p:nvSpPr>
        <p:spPr>
          <a:xfrm>
            <a:off x="1097280" y="13716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Resultados corretos nos casos testados</a:t>
            </a:r>
            <a:endParaRPr lang="en-US" sz="1600" dirty="0"/>
          </a:p>
        </p:txBody>
      </p:sp>
      <p:sp>
        <p:nvSpPr>
          <p:cNvPr id="7" name="Check 1"/>
          <p:cNvSpPr/>
          <p:nvPr/>
        </p:nvSpPr>
        <p:spPr>
          <a:xfrm>
            <a:off x="457200" y="21488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Check txt 1"/>
          <p:cNvSpPr txBox="1"/>
          <p:nvPr/>
        </p:nvSpPr>
        <p:spPr>
          <a:xfrm>
            <a:off x="4572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✓</a:t>
            </a:r>
            <a:endParaRPr lang="en-US" sz="1800" dirty="0"/>
          </a:p>
        </p:txBody>
      </p:sp>
      <p:sp>
        <p:nvSpPr>
          <p:cNvPr id="9" name="Ponto 1"/>
          <p:cNvSpPr txBox="1"/>
          <p:nvPr/>
        </p:nvSpPr>
        <p:spPr>
          <a:xfrm>
            <a:off x="1097280" y="2148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Consolidação preserva conexões diagonais</a:t>
            </a:r>
            <a:endParaRPr lang="en-US" sz="1600" dirty="0"/>
          </a:p>
        </p:txBody>
      </p:sp>
      <p:sp>
        <p:nvSpPr>
          <p:cNvPr id="10" name="Check 2"/>
          <p:cNvSpPr/>
          <p:nvPr/>
        </p:nvSpPr>
        <p:spPr>
          <a:xfrm>
            <a:off x="457200" y="29260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Check txt 2"/>
          <p:cNvSpPr txBox="1"/>
          <p:nvPr/>
        </p:nvSpPr>
        <p:spPr>
          <a:xfrm>
            <a:off x="45720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✓</a:t>
            </a:r>
            <a:endParaRPr lang="en-US" sz="1800" dirty="0"/>
          </a:p>
        </p:txBody>
      </p:sp>
      <p:sp>
        <p:nvSpPr>
          <p:cNvPr id="12" name="Ponto 2"/>
          <p:cNvSpPr txBox="1"/>
          <p:nvPr/>
        </p:nvSpPr>
        <p:spPr>
          <a:xfrm>
            <a:off x="1097280" y="2926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Sincronização simples, por pthread_join</a:t>
            </a:r>
            <a:endParaRPr lang="en-US" sz="1600" dirty="0"/>
          </a:p>
        </p:txBody>
      </p:sp>
      <p:sp>
        <p:nvSpPr>
          <p:cNvPr id="13" name="Card aceleracao"/>
          <p:cNvSpPr/>
          <p:nvPr/>
        </p:nvSpPr>
        <p:spPr>
          <a:xfrm>
            <a:off x="5577840" y="1280160"/>
            <a:ext cx="310896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/>
        </p:spPr>
      </p:sp>
      <p:sp>
        <p:nvSpPr>
          <p:cNvPr id="14" name="Stat aceleracao"/>
          <p:cNvSpPr txBox="1"/>
          <p:nvPr/>
        </p:nvSpPr>
        <p:spPr>
          <a:xfrm>
            <a:off x="5577840" y="13258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2,16×</a:t>
            </a:r>
            <a:endParaRPr lang="en-US" sz="4800" dirty="0"/>
          </a:p>
        </p:txBody>
      </p:sp>
      <p:sp>
        <p:nvSpPr>
          <p:cNvPr id="15" name="Legenda aceleracao"/>
          <p:cNvSpPr txBox="1"/>
          <p:nvPr/>
        </p:nvSpPr>
        <p:spPr>
          <a:xfrm>
            <a:off x="5669280" y="2194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melhor aceleração medida (12 threads)</a:t>
            </a:r>
            <a:endParaRPr lang="en-US" sz="1400" dirty="0"/>
          </a:p>
        </p:txBody>
      </p:sp>
      <p:sp>
        <p:nvSpPr>
          <p:cNvPr id="16" name="Card melhorias"/>
          <p:cNvSpPr/>
          <p:nvPr/>
        </p:nvSpPr>
        <p:spPr>
          <a:xfrm>
            <a:off x="457200" y="3657600"/>
            <a:ext cx="822960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</p:spPr>
      </p:sp>
      <p:sp>
        <p:nvSpPr>
          <p:cNvPr id="17" name="Texto melhorias"/>
          <p:cNvSpPr txBox="1"/>
          <p:nvPr/>
        </p:nvSpPr>
        <p:spPr>
          <a:xfrm>
            <a:off x="731520" y="3657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Melhorias propostas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Distribuição dinâmica de faixas menores e redução da memória dos rótulos.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tagem Paralela">
  <a:themeElements>
    <a:clrScheme name="Contagem Paralela">
      <a:dk1>
        <a:srgbClr val="0F172A"/>
      </a:dk1>
      <a:lt1>
        <a:srgbClr val="FFFFFF"/>
      </a:lt1>
      <a:dk2>
        <a:srgbClr val="1E293B"/>
      </a:dk2>
      <a:lt2>
        <a:srgbClr val="E2E8F0"/>
      </a:lt2>
      <a:accent1>
        <a:srgbClr val="0D9488"/>
      </a:accent1>
      <a:accent2>
        <a:srgbClr val="F59E0B"/>
      </a:accent2>
      <a:accent3>
        <a:srgbClr val="6366F1"/>
      </a:accent3>
      <a:accent4>
        <a:srgbClr val="EF4444"/>
      </a:accent4>
      <a:accent5>
        <a:srgbClr val="64748B"/>
      </a:accent5>
      <a:accent6>
        <a:srgbClr val="22C55E"/>
      </a:accent6>
      <a:hlink>
        <a:srgbClr val="0D9488"/>
      </a:hlink>
      <a:folHlink>
        <a:srgbClr val="64748B"/>
      </a:folHlink>
    </a:clrScheme>
    <a:fontScheme name="Contagem Paralel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Contagem paralela de objetos em matriz binária</dc:title>
  <dc:subject>PptxGenJS Presentation</dc:subject>
  <dc:creator>PptxGenJS</dc:creator>
  <cp:lastModifiedBy>PptxGenJS</cp:lastModifiedBy>
  <cp:revision>1</cp:revision>
  <dcterms:created xsi:type="dcterms:W3CDTF">2026-10-07T00:02:11Z</dcterms:created>
  <dcterms:modified xsi:type="dcterms:W3CDTF">2026-10-07T00:02:11Z</dcterms:modified>
</cp:coreProperties>
</file>